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aed26ef3394f0c" /><Relationship Type="http://schemas.openxmlformats.org/officeDocument/2006/relationships/extended-properties" Target="/docProps/app.xml" Id="Rc90fde8b83964448" /><Relationship Type="http://schemas.openxmlformats.org/officeDocument/2006/relationships/officeDocument" Target="/ppt/presentation.xml" Id="R982ca74a186d4e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bfcef14054478f"/>
  </p:sldMasterIdLst>
  <p:notesMasterIdLst>
    <p:notesMasterId xmlns:r="http://schemas.openxmlformats.org/officeDocument/2006/relationships" r:id="R9018a20d0f894d50"/>
  </p:notesMasterIdLst>
  <p:sldIdLst>
    <p:sldId xmlns:r="http://schemas.openxmlformats.org/officeDocument/2006/relationships" id="256" r:id="Raed0e2afbb6641cb"/>
    <p:sldId xmlns:r="http://schemas.openxmlformats.org/officeDocument/2006/relationships" id="257" r:id="R9789c8c87ad241e9"/>
    <p:sldId xmlns:r="http://schemas.openxmlformats.org/officeDocument/2006/relationships" id="258" r:id="Rb44bf31dc6864a9b"/>
    <p:sldId xmlns:r="http://schemas.openxmlformats.org/officeDocument/2006/relationships" id="259" r:id="R226ea555c05741ce"/>
    <p:sldId xmlns:r="http://schemas.openxmlformats.org/officeDocument/2006/relationships" id="260" r:id="Reaa519473f3b4ef1"/>
    <p:sldId xmlns:r="http://schemas.openxmlformats.org/officeDocument/2006/relationships" id="261" r:id="R59f18d9ffb3d489b"/>
    <p:sldId xmlns:r="http://schemas.openxmlformats.org/officeDocument/2006/relationships" id="262" r:id="R78bfe978d6fa4363"/>
    <p:sldId xmlns:r="http://schemas.openxmlformats.org/officeDocument/2006/relationships" id="263" r:id="R07b92e2e9d1541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2ae756f22d4aa7" /><Relationship Type="http://schemas.openxmlformats.org/officeDocument/2006/relationships/slideMaster" Target="/ppt/slideMasters/slideMaster1.xml" Id="Rdabfcef14054478f" /><Relationship Type="http://schemas.openxmlformats.org/officeDocument/2006/relationships/notesMaster" Target="/ppt/notesMasters/notesMaster1.xml" Id="R9018a20d0f894d50" /><Relationship Type="http://schemas.openxmlformats.org/officeDocument/2006/relationships/presProps" Target="/ppt/presProps.xml" Id="Rfd329a94c8f04895" /><Relationship Type="http://schemas.openxmlformats.org/officeDocument/2006/relationships/tableStyles" Target="/ppt/tableStyles.xml" Id="R1f83a91f734b4d90" /><Relationship Type="http://schemas.openxmlformats.org/officeDocument/2006/relationships/slide" Target="/ppt/slides/slide1.xml" Id="Raed0e2afbb6641cb" /><Relationship Type="http://schemas.openxmlformats.org/officeDocument/2006/relationships/slide" Target="/ppt/slides/slide2.xml" Id="R9789c8c87ad241e9" /><Relationship Type="http://schemas.openxmlformats.org/officeDocument/2006/relationships/slide" Target="/ppt/slides/slide3.xml" Id="Rb44bf31dc6864a9b" /><Relationship Type="http://schemas.openxmlformats.org/officeDocument/2006/relationships/slide" Target="/ppt/slides/slide4.xml" Id="R226ea555c05741ce" /><Relationship Type="http://schemas.openxmlformats.org/officeDocument/2006/relationships/slide" Target="/ppt/slides/slide5.xml" Id="Reaa519473f3b4ef1" /><Relationship Type="http://schemas.openxmlformats.org/officeDocument/2006/relationships/slide" Target="/ppt/slides/slide6.xml" Id="R59f18d9ffb3d489b" /><Relationship Type="http://schemas.openxmlformats.org/officeDocument/2006/relationships/slide" Target="/ppt/slides/slide7.xml" Id="R78bfe978d6fa4363" /><Relationship Type="http://schemas.openxmlformats.org/officeDocument/2006/relationships/slide" Target="/ppt/slides/slide8.xml" Id="R07b92e2e9d15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049915f3d74d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24bd64666e429e" /><Relationship Type="http://schemas.openxmlformats.org/officeDocument/2006/relationships/notesMaster" Target="/ppt/notesMasters/notesMaster1.xml" Id="R305b2fe4a7174e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4c04984efd4327" /><Relationship Type="http://schemas.openxmlformats.org/officeDocument/2006/relationships/notesMaster" Target="/ppt/notesMasters/notesMaster1.xml" Id="R9aeaf076516e44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5aa77b8b854adc" /><Relationship Type="http://schemas.openxmlformats.org/officeDocument/2006/relationships/notesMaster" Target="/ppt/notesMasters/notesMaster1.xml" Id="R40cfa170bf1944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727da3ce8b48aa" /><Relationship Type="http://schemas.openxmlformats.org/officeDocument/2006/relationships/notesMaster" Target="/ppt/notesMasters/notesMaster1.xml" Id="Rcd4afa538e684b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a782565d994025" /><Relationship Type="http://schemas.openxmlformats.org/officeDocument/2006/relationships/notesMaster" Target="/ppt/notesMasters/notesMaster1.xml" Id="R6d47d886c6cd43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a923c82c3e4e74" /><Relationship Type="http://schemas.openxmlformats.org/officeDocument/2006/relationships/notesMaster" Target="/ppt/notesMasters/notesMaster1.xml" Id="R6fac0f1e1ea442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a86af672946d4" /><Relationship Type="http://schemas.openxmlformats.org/officeDocument/2006/relationships/notesMaster" Target="/ppt/notesMasters/notesMaster1.xml" Id="Rb5e9be263ac74b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2ca0ede332436d" /><Relationship Type="http://schemas.openxmlformats.org/officeDocument/2006/relationships/notesMaster" Target="/ppt/notesMasters/notesMaster1.xml" Id="Rc7a8e2d1f51c4e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pela tese: o valor não é apenas um site bonito, mas uma mesma informação acompanhando todo o ciclo da locação.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própria: site público, 25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mural não é decoração: ele é uma entrada comercial estruturada, com produtos e quantidades vinculados.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própria: foto de evento ligada aos produtos, 25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as variáveis que normalmente ficam na cabeça do comercial: datas, horários, espaço, acesso, cidade, volume, frota e equipe.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própria: briefing do evento, 25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pagamento não é uma ilha: o sinal é uma condição operacional para reservar peças concretas.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própria: CRM por evento, 25 ago 2026</a:t>
            </a:r>
          </a:p>
          <a:p xmlns:a="http://schemas.openxmlformats.org/drawingml/2006/main">
            <a:r>
              <a:t>- https://software-house-six.vercel.app/imperio — captura própria: recebíveis e conciliação, 25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venda IA mágica. O ganho é tornar explícitos os critérios que a empresa já usa — e conectá-los ao histórico de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própria: comparação produzir versus alternativas, 25 ago 2026</a:t>
            </a:r>
          </a:p>
          <a:p xmlns:a="http://schemas.openxmlformats.org/drawingml/2006/main">
            <a:r>
              <a:t>- https://software-house-six.vercel.app/imperio — captura própria: ordem de fabricação, 25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handover não é uma notificação genérica: ele muda a custódia física das peças e exige conferência.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própria: torre de controle, 25 ago 2026</a:t>
            </a:r>
          </a:p>
          <a:p xmlns:a="http://schemas.openxmlformats.org/drawingml/2006/main">
            <a:r>
              <a:t>- https://software-house-six.vercel.app/imperio — captura própria: logística por tag, 25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Aponte a nuance operacional: uma peça devolvida fisicamente ainda não está disponível até passar pela inspeção ou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própria: retorno e avarias, 25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pedindo decisões. A proposta demonstra o ciclo completo, mas o primeiro contrato deve definir fonte de verdade, regras operacionais e integrações prioritárias.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https://software-house-six.vercel.app/imperio — captura própria: mapa de integrações, 25 ago 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c9a4e3c0c43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85950b6b2140b1" /><Relationship Type="http://schemas.openxmlformats.org/officeDocument/2006/relationships/slideLayout" Target="/ppt/slideLayouts/slideLayout1.xml" Id="R453d8b4bc96640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3d8b4bc96640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dd754a6344ddf" /><Relationship Type="http://schemas.openxmlformats.org/officeDocument/2006/relationships/image" Target="/ppt/media/image.jpeg" Id="Rd8c9f1eaf87d47f2" /><Relationship Type="http://schemas.openxmlformats.org/officeDocument/2006/relationships/notesSlide" Target="/ppt/notesSlides/notesSlide1.xml" Id="R4927c531a91349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81a16f1cb4cdb" /><Relationship Type="http://schemas.openxmlformats.org/officeDocument/2006/relationships/image" Target="/ppt/media/image2.jpeg" Id="R07a474c2daae474d" /><Relationship Type="http://schemas.openxmlformats.org/officeDocument/2006/relationships/notesSlide" Target="/ppt/notesSlides/notesSlide2.xml" Id="R5eaf50893ae74c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c9d5927fa4bda" /><Relationship Type="http://schemas.openxmlformats.org/officeDocument/2006/relationships/image" Target="/ppt/media/image3.jpeg" Id="R8e6257de547143a7" /><Relationship Type="http://schemas.openxmlformats.org/officeDocument/2006/relationships/notesSlide" Target="/ppt/notesSlides/notesSlide3.xml" Id="Rac5df0971d9643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e69b0813b44da" /><Relationship Type="http://schemas.openxmlformats.org/officeDocument/2006/relationships/image" Target="/ppt/media/image4.jpeg" Id="R6b6c3944becb4f57" /><Relationship Type="http://schemas.openxmlformats.org/officeDocument/2006/relationships/image" Target="/ppt/media/image5.jpeg" Id="R7f1963084407495f" /><Relationship Type="http://schemas.openxmlformats.org/officeDocument/2006/relationships/notesSlide" Target="/ppt/notesSlides/notesSlide4.xml" Id="R4fc5ccac93d749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cc44df72b4713" /><Relationship Type="http://schemas.openxmlformats.org/officeDocument/2006/relationships/image" Target="/ppt/media/image6.jpeg" Id="R96e5bac60b044d87" /><Relationship Type="http://schemas.openxmlformats.org/officeDocument/2006/relationships/image" Target="/ppt/media/image7.jpeg" Id="R8fa33fdd6b354372" /><Relationship Type="http://schemas.openxmlformats.org/officeDocument/2006/relationships/notesSlide" Target="/ppt/notesSlides/notesSlide5.xml" Id="Re85e32e42fc448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aee671f124e1e" /><Relationship Type="http://schemas.openxmlformats.org/officeDocument/2006/relationships/image" Target="/ppt/media/image8.jpeg" Id="R74f9ba610edf4653" /><Relationship Type="http://schemas.openxmlformats.org/officeDocument/2006/relationships/image" Target="/ppt/media/image9.jpeg" Id="R97e4831e74514186" /><Relationship Type="http://schemas.openxmlformats.org/officeDocument/2006/relationships/notesSlide" Target="/ppt/notesSlides/notesSlide6.xml" Id="Rca749e1d8b8842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0aa9b628f4654" /><Relationship Type="http://schemas.openxmlformats.org/officeDocument/2006/relationships/image" Target="/ppt/media/image10.jpeg" Id="R596512c64c13455d" /><Relationship Type="http://schemas.openxmlformats.org/officeDocument/2006/relationships/notesSlide" Target="/ppt/notesSlides/notesSlide7.xml" Id="Rb33086b7d4f045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8937c2a564048" /><Relationship Type="http://schemas.openxmlformats.org/officeDocument/2006/relationships/image" Target="/ppt/media/image11.jpeg" Id="R86b439ac84cb4333" /><Relationship Type="http://schemas.openxmlformats.org/officeDocument/2006/relationships/notesSlide" Target="/ppt/notesSlides/notesSlide8.xml" Id="Rfe2f7434617e41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9f1eaf87d47f2"/>
          <a:srcRect xmlns:a="http://schemas.openxmlformats.org/drawingml/2006/main" l="8009" t="0" r="80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AB47A-26A3-48B1-91CB-D1407044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C6E98-3E1E-47DB-B0D0-6AE39272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27024-6F2F-47B7-9CC7-881C08BD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AD5D"/>
                </a:solidFill>
              </a:defRPr>
            </a:pPr>
            <a:r>
              <a:rPr sz="975" b="1">
                <a:solidFill>
                  <a:srgbClr val="D7AD5D"/>
                </a:solidFill>
              </a:rPr>
              <a:t>PROPOSTA DE SOLUÇÃO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1328A-4FB6-4361-8628-79E65EE4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Uma operação que conhece o evento inteiro.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E446A-9351-40C4-B402-FA4371EA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4DDE4"/>
                </a:solidFill>
              </a:defRPr>
            </a:pPr>
            <a:r>
              <a:rPr sz="1650" b="0">
                <a:solidFill>
                  <a:srgbClr val="D4DDE4"/>
                </a:solidFill>
              </a:rPr>
              <a:t>Da inspiração do cliente ao retorno de cada peça ao estoque.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3A536-6223-4DBA-A716-0F8DFE6C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D5D"/>
                </a:solidFill>
              </a:defRPr>
            </a:pPr>
            <a:r>
              <a:rPr sz="1050" b="1">
                <a:solidFill>
                  <a:srgbClr val="D7AD5D"/>
                </a:solidFill>
              </a:rPr>
              <a:t>IMPÉRIO LOCAÇÕES</a:t>
            </a:r>
          </a:p>
        </p:txBody>
      </p:sp>
    </p:spTree>
    <p:extLst>
      <p:ext uri="{BB962C8B-B14F-4D97-AF65-F5344CB8AC3E}">
        <p14:creationId xmlns:p14="http://schemas.microsoft.com/office/powerpoint/2010/main" val="1703066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9DE14-A131-4941-A9B3-8F21E651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74C"/>
                </a:solidFill>
              </a:defRPr>
            </a:pPr>
            <a:r>
              <a:rPr sz="975" b="1">
                <a:solidFill>
                  <a:srgbClr val="1B674C"/>
                </a:solidFill>
              </a:rPr>
              <a:t>01 · EXPERIÊNCIA DO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0C8EC-6851-4445-BFB1-FC2C758C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B"/>
                </a:solidFill>
              </a:defRPr>
            </a:pPr>
            <a:r>
              <a:rPr sz="3150" b="1">
                <a:solidFill>
                  <a:srgbClr val="10243B"/>
                </a:solidFill>
              </a:rPr>
              <a:t>A venda começa na foto, não no formulário.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8E11C-44D5-46CD-AF9D-7D27CE27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70974-4D09-468F-BF0B-94E0923E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1F71B-A0D6-45BA-91BB-C3212CF8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Ambiente comprável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82A73-C066-4093-9FCD-5CEB02F6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Cada foto revela produtos e quantidades sugeridas.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A51F2-EDA4-480F-AF62-CD7E24E6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76504-CB10-4CF5-A1F2-44920578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0517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D4429-8488-413E-B0FC-2EA3D472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Seleção editável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8A07B-EF38-43EB-802C-BEE56C39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O cliente adiciona a composição e ajusta peça por peça.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8F848-A371-4AC7-8CD5-9361633C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3BDE0-C370-4B0C-8C3C-EE654E36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A0C5C-0806-456F-BB23-E5D4B828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Referência preservada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A0317-88F9-43AE-982A-4B335446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O mural segue anexado ao pedido e ao evento.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B36A3-76EA-41C1-936A-F820B073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388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49C5E-9EE2-49FE-AD96-39ECA0BC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D5D"/>
                </a:solidFill>
              </a:defRPr>
            </a:pPr>
            <a:r>
              <a:rPr sz="900" b="1">
                <a:solidFill>
                  <a:srgbClr val="D7AD5D"/>
                </a:solidFill>
              </a:rPr>
              <a:t>Conhecimento tácito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DE429-B2FD-4525-9ABB-9BCF5352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 cliente compra o ambiente — não uma lista de SKUs.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485C9-B8C5-4546-B4E1-6E8AB006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38175"/>
            <a:ext cx="68008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474c2daae474d"/>
          <a:srcRect xmlns:a="http://schemas.openxmlformats.org/drawingml/2006/main" l="20307" t="0" r="203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685800"/>
            <a:ext cx="6705600" cy="5334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BF967-4DE6-4127-A0B6-1F6C43CC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5E950-FD2F-4395-AB0A-FFE0BBD2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9497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87AF1-8A9D-4AF5-B58D-6D9FE46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B18"/>
                </a:solidFill>
              </a:defRPr>
            </a:pPr>
            <a:r>
              <a:rPr sz="975" b="1">
                <a:solidFill>
                  <a:srgbClr val="A65B18"/>
                </a:solidFill>
              </a:rPr>
              <a:t>02 · BRIEFING E PROMESSA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BB932-B1B3-48D7-984C-96EEC6DE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B"/>
                </a:solidFill>
              </a:defRPr>
            </a:pPr>
            <a:r>
              <a:rPr sz="3000" b="1">
                <a:solidFill>
                  <a:srgbClr val="10243B"/>
                </a:solidFill>
              </a:rPr>
              <a:t>A disponibilidade depende do contexto do evento.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2A1F7-7E24-4B30-B2CE-D13BD8D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9454E-961C-4E5F-9B63-B813D903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ACDB9-3EDB-4A37-A59B-203DEC1A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Janela operacional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B7F19-C873-4B08-B3E2-26DA5F7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Entrega, retirada e buffers de preparo e limpeza.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9E518-ECC4-4AFB-B714-87C0E6D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3F7E8-EF76-41D5-8253-39043A26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565C0-2961-42BE-8AFC-29301F67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Local real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83154-D312-4481-B52C-4C3BBAA2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Cidade, distância, acesso, piso, doca e estacionamento.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FDB88-448B-4CBD-8699-F943796E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5DB26-1F3A-4668-B4E6-FA1276AD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72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E7E43-2E67-4B69-B130-271906D2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Carga necessária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32F2C-A180-4DA3-937C-61AAF3A4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Volume, veículos, equipe e tempo de montagem.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350E9-446D-4139-BBB0-B8836677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674C"/>
                </a:solidFill>
              </a:defRPr>
            </a:pPr>
            <a:r>
              <a:rPr sz="1350" b="1">
                <a:solidFill>
                  <a:srgbClr val="1B674C"/>
                </a:solidFill>
              </a:rPr>
              <a:t>O estoque é temporal: disponível hoje não significa disponível para aquela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F27E9-1975-4FFF-90D2-B827B53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771525"/>
            <a:ext cx="65341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257de547143a7"/>
          <a:srcRect xmlns:a="http://schemas.openxmlformats.org/drawingml/2006/main" l="20432" t="0" r="204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819150"/>
            <a:ext cx="6438900" cy="5143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F28D9-7D7A-46B1-A2B1-FBD99CB1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63B9-CA6D-43F4-B481-0BE9D4D5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6848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811B5-D801-4E51-A582-879774E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74C"/>
                </a:solidFill>
              </a:defRPr>
            </a:pPr>
            <a:r>
              <a:rPr sz="975" b="1">
                <a:solidFill>
                  <a:srgbClr val="1B674C"/>
                </a:solidFill>
              </a:rPr>
              <a:t>03 · COMERCIAL E FINANCEIRO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50BA2-FF01-49AC-B914-97F5DB4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4362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B"/>
                </a:solidFill>
              </a:defRPr>
            </a:pPr>
            <a:r>
              <a:rPr sz="2850" b="1">
                <a:solidFill>
                  <a:srgbClr val="10243B"/>
                </a:solidFill>
              </a:rPr>
              <a:t>CRM e sinal: contexto preservado, reserva liberada.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AC8D4-18DE-4F66-85A0-0D14C0E2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3"/>
                </a:solidFill>
              </a:defRPr>
            </a:pPr>
            <a:r>
              <a:rPr sz="1425" b="0">
                <a:solidFill>
                  <a:srgbClr val="687783"/>
                </a:solidFill>
              </a:rPr>
              <a:t>Um mesmo código conecta cliente, proposta, pagamento, disponibilidade e próximo responsável.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04B8A-6317-4D5A-B135-1E87E99F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36F43-B121-45BE-8D5A-820588A1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08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776B1-0649-4CB1-9C22-4BE12DF9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Dossiê comercial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8A012-D1FA-4819-858E-E1F86F8E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Foto, peças, data, local, faltas e valor permanecem juntos.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F5724-D7C8-4FD6-8836-39A1540C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6504C-EAC7-4316-A545-95F87E82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F1071-7325-4BFD-A8B4-3C9CEBC4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Proposta e sinal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37E21-71C5-4A1D-B266-18A223DC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Versão, validade e conciliação passam a ser visíveis.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1009F-81CC-4087-A1A8-E777B2E7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7D233-ED2D-48F5-BB49-108DA370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863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68679-12FC-437B-B4C8-F7DE3578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Handover explícito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7F122-BABD-4FFC-9BFA-179934E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Cada área recebe uma próxima ação e um bloqueio.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29017-1012-476C-B989-C76D759D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19125"/>
            <a:ext cx="668655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c3944becb4f57"/>
          <a:srcRect xmlns:a="http://schemas.openxmlformats.org/drawingml/2006/main" l="7982" t="0" r="79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00" y="666750"/>
            <a:ext cx="6591300" cy="37052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FDCE1-6D7F-456F-A204-41149E45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467225"/>
            <a:ext cx="4686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963084407495f"/>
          <a:srcRect xmlns:a="http://schemas.openxmlformats.org/drawingml/2006/main" l="0" t="10254" r="0" b="10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4514850"/>
            <a:ext cx="4591050" cy="17240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84156-FEF2-44B6-B6CD-37C9B1A2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95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674C"/>
                </a:solidFill>
              </a:defRPr>
            </a:pPr>
            <a:r>
              <a:rPr sz="900" b="1">
                <a:solidFill>
                  <a:srgbClr val="1B674C"/>
                </a:solidFill>
              </a:rPr>
              <a:t>CRM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BBD36-860D-4D23-BB41-9A5E3224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101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FINANCEIRO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763C6-950B-4BEA-BB33-556387F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BAB0D-1E4D-4DBF-AE75-56C4D238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5834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3DA1F-2897-4334-8549-C44A3958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B18"/>
                </a:solidFill>
              </a:defRPr>
            </a:pPr>
            <a:r>
              <a:rPr sz="975" b="1">
                <a:solidFill>
                  <a:srgbClr val="A65B18"/>
                </a:solidFill>
              </a:rPr>
              <a:t>04 · ESTOQUE E FABRICAÇÃO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AF8A0-9884-469F-BD45-93101CF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45243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B"/>
                </a:solidFill>
              </a:defRPr>
            </a:pPr>
            <a:r>
              <a:rPr sz="3000" b="1">
                <a:solidFill>
                  <a:srgbClr val="10243B"/>
                </a:solidFill>
              </a:rPr>
              <a:t>Quando falta estoque, a pergunta não é só “dá para produzir?”.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0AFA4-5DE6-475C-9092-B844F5B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3"/>
                </a:solidFill>
              </a:defRPr>
            </a:pPr>
            <a:r>
              <a:rPr sz="1425" b="0">
                <a:solidFill>
                  <a:srgbClr val="687783"/>
                </a:solidFill>
              </a:rPr>
              <a:t>A decisão compara produzir, substituir, sublocar ou reduzir — sempre com aprovação humana.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AF78A-2479-4A12-88BD-DC16341C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2F6D7-74D5-4539-93E1-C8918A7A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0517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93618-5A65-40F3-8E9C-2E031CE3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Economia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A1ECD-7496-44B7-A788-4EC2A015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Custo, prazo e margem incremental.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ECD6F-F208-42EF-AFD1-340ECB1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624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F45D7-B62B-4219-B7BB-4C2B64DB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005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304D7-89F2-4C27-87FD-17FA8B27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Demanda destravada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96F75-D10D-49B7-830B-79361F35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Pedidos antigos compatíveis nos próximos meses.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D7BB6-E146-41C0-9585-28B55A93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7EBD8-832F-49F6-B70F-737A73F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3D75E-4A85-46E1-A8E2-85E532B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Execução fabril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357AB-79E6-4C36-A3F7-D8DDC1FB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CNC, estrutura, tapeçaria, qualidade e recebimento.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AF6F0-BFFA-46BE-A2A1-ED314E9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619125"/>
            <a:ext cx="668655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5bac60b044d87"/>
          <a:srcRect xmlns:a="http://schemas.openxmlformats.org/drawingml/2006/main" l="7982" t="0" r="79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00" y="666750"/>
            <a:ext cx="6591300" cy="37052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04F45-224C-430E-AE51-3290D31F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467225"/>
            <a:ext cx="46863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33fdd6b354372"/>
          <a:srcRect xmlns:a="http://schemas.openxmlformats.org/drawingml/2006/main" l="0" t="10254" r="0" b="10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4514850"/>
            <a:ext cx="4591050" cy="17240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36470B-BFF5-4175-99F1-9FB52326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529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A4448-0B41-4E1F-8C8A-81D67D9E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244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DECISÃO HUMANA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B5B48-183E-42BB-B27D-09FB32C6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903EF-FC76-4523-987A-60F1EF3D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603702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F1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B7BBB-A375-4CCE-9ECD-781271BC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674C"/>
                </a:solidFill>
              </a:defRPr>
            </a:pPr>
            <a:r>
              <a:rPr sz="975" b="1">
                <a:solidFill>
                  <a:srgbClr val="1B674C"/>
                </a:solidFill>
              </a:rPr>
              <a:t>05 · HANDOVER E LOGÍSTICA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73C34-657A-4B55-8C9E-8BC0260A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B"/>
                </a:solidFill>
              </a:defRPr>
            </a:pPr>
            <a:r>
              <a:rPr sz="3000" b="1">
                <a:solidFill>
                  <a:srgbClr val="10243B"/>
                </a:solidFill>
              </a:rPr>
              <a:t>Cada handover deixa evidência.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C1157-8B75-4123-BD8A-31451EC5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3"/>
                </a:solidFill>
              </a:defRPr>
            </a:pPr>
            <a:r>
              <a:rPr sz="1425" b="0">
                <a:solidFill>
                  <a:srgbClr val="687783"/>
                </a:solidFill>
              </a:rPr>
              <a:t>Reserva temporal → separação por tag → carga conferida → entrega comprovada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0EB0D-6D5A-4308-B2F9-0A0E44F3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819275"/>
            <a:ext cx="53149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9ba610edf4653"/>
          <a:srcRect xmlns:a="http://schemas.openxmlformats.org/drawingml/2006/main" l="7975" t="0" r="79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66900"/>
            <a:ext cx="5219700" cy="2933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DA859-1A1B-4E34-BC61-E19AD1EF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819275"/>
            <a:ext cx="53149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4831e74514186"/>
          <a:srcRect xmlns:a="http://schemas.openxmlformats.org/drawingml/2006/main" l="7975" t="0" r="79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866900"/>
            <a:ext cx="5219700" cy="2933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4D5E3-D21C-44C4-A1C3-B797CDBA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Quem responde agora?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19E7A-879C-4829-BB0A-6D818224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3"/>
                </a:solidFill>
              </a:defRPr>
            </a:pPr>
            <a:r>
              <a:rPr sz="1275" b="0">
                <a:solidFill>
                  <a:srgbClr val="687783"/>
                </a:solidFill>
              </a:rPr>
              <a:t>A torre mostra responsável, próxima área e bloqueio.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EBA6B-4281-4EFE-A212-58F91D5E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91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O que está no caminhão?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73832-D449-4651-968C-82FA9EB5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2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3"/>
                </a:solidFill>
              </a:defRPr>
            </a:pPr>
            <a:r>
              <a:rPr sz="1275" b="0">
                <a:solidFill>
                  <a:srgbClr val="687783"/>
                </a:solidFill>
              </a:rPr>
              <a:t>Tags, veículo, motorista, equipe, foto e assinatura.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A59BB-74CF-40F2-AF9E-EF43930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3CE5A-D26A-4E53-A20B-1E85B820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53EFC-9377-41C5-A289-91E62330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0879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83D97-AD0A-4AE1-9B59-DBE98903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B18"/>
                </a:solidFill>
              </a:defRPr>
            </a:pPr>
            <a:r>
              <a:rPr sz="975" b="1">
                <a:solidFill>
                  <a:srgbClr val="A65B18"/>
                </a:solidFill>
              </a:rPr>
              <a:t>06 · RETORNO E MANUTENÇÃO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0DE8E-CE6A-4729-9D19-6C2118C2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4429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B"/>
                </a:solidFill>
              </a:defRPr>
            </a:pPr>
            <a:r>
              <a:rPr sz="3000" b="1">
                <a:solidFill>
                  <a:srgbClr val="10243B"/>
                </a:solidFill>
              </a:rPr>
              <a:t>O evento só termina quando cada peça tem um destino.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7947A-EAFE-4C0A-B189-F7EEB2A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B2957-5FC1-49B7-8D60-E38546EB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8BA69-815C-4985-ABF0-6B9A5FE8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Inspeção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ADCC0-5CB7-487B-84B8-D371446C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Aprovar, revisar, localizar ou dar baixa.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6BB1D-D4C3-4634-98B1-C1A5F137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ADC00-D203-48B0-A921-041AEBC9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2CE57-7CD5-4771-A2C9-FE49901F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Avaria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4CD41-5C62-4121-824C-095B400A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Evidência, severidade, custo e responsável.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FD0E0-3097-45A2-B54C-B0A8D12B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2762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C207F-702F-4671-AC41-EDC23890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276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43B"/>
                </a:solidFill>
              </a:defRPr>
            </a:pPr>
            <a:r>
              <a:rPr sz="900" b="1">
                <a:solidFill>
                  <a:srgbClr val="10243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426C2-5A5D-4ADA-8E5C-B22ECA20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B"/>
                </a:solidFill>
              </a:defRPr>
            </a:pPr>
            <a:r>
              <a:rPr sz="1500" b="1">
                <a:solidFill>
                  <a:srgbClr val="10243B"/>
                </a:solidFill>
              </a:rPr>
              <a:t>Ordem de serviço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D831C-2882-4ADE-9CE2-D38E31B6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783"/>
                </a:solidFill>
              </a:defRPr>
            </a:pPr>
            <a:r>
              <a:rPr sz="1200" b="0">
                <a:solidFill>
                  <a:srgbClr val="687783"/>
                </a:solidFill>
              </a:rPr>
              <a:t>Reparo concluído devolve a tag ao estoque.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7D4D8-F0CF-4264-94CF-9BE6CA22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A65B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874B4-D2CF-4942-AA4A-0CB892D3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5B18"/>
                </a:solidFill>
              </a:defRPr>
            </a:pPr>
            <a:r>
              <a:rPr sz="900" b="1">
                <a:solidFill>
                  <a:srgbClr val="A65B18"/>
                </a:solidFill>
              </a:rPr>
              <a:t>Regra de fechamento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00769-435F-44D6-AD52-2CFE711C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B"/>
                </a:solidFill>
              </a:defRPr>
            </a:pPr>
            <a:r>
              <a:rPr sz="1200" b="1">
                <a:solidFill>
                  <a:srgbClr val="10243B"/>
                </a:solidFill>
              </a:rPr>
              <a:t>Pendência bloqueia o fechamento.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A4AC5-DA98-49E3-96CE-4FF9503C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095375"/>
            <a:ext cx="6686550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243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512c64c13455d"/>
          <a:srcRect xmlns:a="http://schemas.openxmlformats.org/drawingml/2006/main" l="7982" t="0" r="79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00" y="1143000"/>
            <a:ext cx="6591300" cy="37052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F6F6D-F4FD-40D8-BA4A-53CD503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674C"/>
                </a:solidFill>
              </a:defRPr>
            </a:pPr>
            <a:r>
              <a:rPr sz="1200" b="1">
                <a:solidFill>
                  <a:srgbClr val="1B674C"/>
                </a:solidFill>
              </a:rPr>
              <a:t>EVENTO → INSPEÇÃO → OS → ESTOQUE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D4AF0-0B97-49EC-A932-3F8F282C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783"/>
                </a:solidFill>
              </a:defRPr>
            </a:pPr>
            <a:r>
              <a:rPr sz="750" b="1">
                <a:solidFill>
                  <a:srgbClr val="687783"/>
                </a:solidFill>
              </a:rPr>
              <a:t>IMPÉRIO LOCAÇÕES · CONCEITO DE SOLUÇÃO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7A57E-0236-4BD1-8B03-591C99FE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43B"/>
                </a:solidFill>
              </a:defRPr>
            </a:pPr>
            <a:r>
              <a:rPr sz="825" b="1">
                <a:solidFill>
                  <a:srgbClr val="10243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2246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6FF3A-A46F-45B5-88BE-460B245C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AD5D"/>
                </a:solidFill>
              </a:defRPr>
            </a:pPr>
            <a:r>
              <a:rPr sz="975" b="1">
                <a:solidFill>
                  <a:srgbClr val="D7AD5D"/>
                </a:solidFill>
              </a:rPr>
              <a:t>DECISÕES PARA FECHAR A PRIMEIRA FASE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A3BD2-A8EB-4D33-B017-CA490517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Construir na ordem certa exige três decisões.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439ac84cb4333"/>
          <a:srcRect xmlns:a="http://schemas.openxmlformats.org/drawingml/2006/main" l="7927" t="0" r="7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400050"/>
            <a:ext cx="3257550" cy="1828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0367A-9D5D-4CA3-9C1B-9F3565C8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D5D"/>
                </a:solidFill>
              </a:defRPr>
            </a:pPr>
            <a:r>
              <a:rPr sz="900" b="1">
                <a:solidFill>
                  <a:srgbClr val="D7AD5D"/>
                </a:solidFill>
              </a:rPr>
              <a:t>RECOMENDAÇÃO · FASE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C2D57-8D37-4688-9948-6E02512E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Operação essencial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DE233-837B-4EF6-979D-6D4A018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Site, mural e checkout</a:t>
            </a:r>
          </a:p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CRM, proposta e sinal</a:t>
            </a:r>
          </a:p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Reserva temporal e tags</a:t>
            </a:r>
          </a:p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Logística, retorno e manutenção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68116-5F68-46BA-A724-AA9FC097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670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5D5E3-E7A6-43A3-A1A0-6726986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C3AE"/>
                </a:solidFill>
              </a:defRPr>
            </a:pPr>
            <a:r>
              <a:rPr sz="900" b="1">
                <a:solidFill>
                  <a:srgbClr val="8EC3AE"/>
                </a:solidFill>
              </a:rPr>
              <a:t>PRECISAMOS CONFIRMAR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D667B-8067-49BA-990F-EAAA1FA2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Regras do negócio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F0C88-15D9-4353-B592-E2A177D1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Estoque NOW será a fonte oficial?</a:t>
            </a:r>
          </a:p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Tag por unidade ou por lote?</a:t>
            </a:r>
          </a:p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Como precificar região e transporte?</a:t>
            </a:r>
          </a:p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Quem aprova produção, troca e avaria?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A8539-6FEE-4DA9-A126-7D319824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67704-8AFA-4B07-B829-78F6E2FD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B47E"/>
                </a:solidFill>
              </a:defRPr>
            </a:pPr>
            <a:r>
              <a:rPr sz="900" b="1">
                <a:solidFill>
                  <a:srgbClr val="E6B47E"/>
                </a:solidFill>
              </a:rPr>
              <a:t>FASE POSTERIOR?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84012-FB30-4712-BCDD-3E063973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Integrações e inteligência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40616-2916-4DA1-8012-00524C3A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WhatsApp, pagamentos e fiscal</a:t>
            </a:r>
          </a:p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CNC e capacidade fabril real</a:t>
            </a:r>
          </a:p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Roteirização, GPS e app do motorista</a:t>
            </a:r>
          </a:p>
          <a:p xmlns:a="http://schemas.openxmlformats.org/drawingml/2006/main">
            <a:pPr algn="l">
              <a:defRPr sz="1350" b="0">
                <a:solidFill>
                  <a:srgbClr val="D4DDE4"/>
                </a:solidFill>
              </a:defRPr>
            </a:pPr>
            <a:r>
              <a:rPr sz="1350" b="0">
                <a:solidFill>
                  <a:srgbClr val="D4DDE4"/>
                </a:solidFill>
              </a:rPr>
              <a:t>Demanda preditiva e portal de fornecedores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8037A-3DC5-49EF-A254-C01D058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64D53-072B-4A2C-8E12-F4140F8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43B"/>
                </a:solidFill>
              </a:defRPr>
            </a:pPr>
            <a:r>
              <a:rPr sz="1275" b="1">
                <a:solidFill>
                  <a:srgbClr val="10243B"/>
                </a:solidFill>
              </a:rPr>
              <a:t>DECISÃO ESPERADA: escopo da fase 1 + fonte oficial do estoque + três integrações de lançamento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4D219-A02D-45A9-B19D-E844E76D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8D5"/>
                </a:solidFill>
              </a:defRPr>
            </a:pPr>
            <a:r>
              <a:rPr sz="750" b="1">
                <a:solidFill>
                  <a:srgbClr val="B9C8D5"/>
                </a:solidFill>
              </a:rPr>
              <a:t>IMPÉRIO LOCAÇÕES · CONCEITO DE SOLUÇÃO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872E4-AFCE-4F32-9565-4C05AAF8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4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7AD5D"/>
                </a:solidFill>
              </a:defRPr>
            </a:pPr>
            <a:r>
              <a:rPr sz="825" b="1">
                <a:solidFill>
                  <a:srgbClr val="D7AD5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9503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2026-08-25T18:47:14.5540000Z</dcterms:created>
  <dcterms:modified xsi:type="dcterms:W3CDTF">2026-08-25T18:47:14.5550000Z</dcterms:modified>
</coreProperties>
</file>