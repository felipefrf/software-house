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5fe4879d4a4257" /><Relationship Type="http://schemas.openxmlformats.org/officeDocument/2006/relationships/extended-properties" Target="/docProps/app.xml" Id="R81090a8bd26644f1" /><Relationship Type="http://schemas.openxmlformats.org/officeDocument/2006/relationships/officeDocument" Target="/ppt/presentation.xml" Id="R7d0ae011087041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25cde6837643ad"/>
  </p:sldMasterIdLst>
  <p:notesMasterIdLst>
    <p:notesMasterId xmlns:r="http://schemas.openxmlformats.org/officeDocument/2006/relationships" r:id="Re2200686d094470a"/>
  </p:notesMasterIdLst>
  <p:sldIdLst>
    <p:sldId xmlns:r="http://schemas.openxmlformats.org/officeDocument/2006/relationships" id="256" r:id="Recf8c595951247e6"/>
    <p:sldId xmlns:r="http://schemas.openxmlformats.org/officeDocument/2006/relationships" id="257" r:id="Ra713361796f047db"/>
    <p:sldId xmlns:r="http://schemas.openxmlformats.org/officeDocument/2006/relationships" id="258" r:id="R84483c2c2b8e4890"/>
    <p:sldId xmlns:r="http://schemas.openxmlformats.org/officeDocument/2006/relationships" id="259" r:id="Re63e8c11dd0e4345"/>
    <p:sldId xmlns:r="http://schemas.openxmlformats.org/officeDocument/2006/relationships" id="260" r:id="R564d893de9d9473c"/>
    <p:sldId xmlns:r="http://schemas.openxmlformats.org/officeDocument/2006/relationships" id="261" r:id="R14c5ca1546e7467b"/>
    <p:sldId xmlns:r="http://schemas.openxmlformats.org/officeDocument/2006/relationships" id="262" r:id="R64a1c7ece7184ebc"/>
    <p:sldId xmlns:r="http://schemas.openxmlformats.org/officeDocument/2006/relationships" id="263" r:id="R6294a4f99e84447f"/>
    <p:sldId xmlns:r="http://schemas.openxmlformats.org/officeDocument/2006/relationships" id="264" r:id="R722dd5da600c4d3c"/>
    <p:sldId xmlns:r="http://schemas.openxmlformats.org/officeDocument/2006/relationships" id="265" r:id="Raad482c5cc8b48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e6667a93194de7" /><Relationship Type="http://schemas.openxmlformats.org/officeDocument/2006/relationships/slideMaster" Target="/ppt/slideMasters/slideMaster1.xml" Id="R0525cde6837643ad" /><Relationship Type="http://schemas.openxmlformats.org/officeDocument/2006/relationships/notesMaster" Target="/ppt/notesMasters/notesMaster1.xml" Id="Re2200686d094470a" /><Relationship Type="http://schemas.openxmlformats.org/officeDocument/2006/relationships/presProps" Target="/ppt/presProps.xml" Id="Ra190bc523e7c4ea6" /><Relationship Type="http://schemas.openxmlformats.org/officeDocument/2006/relationships/tableStyles" Target="/ppt/tableStyles.xml" Id="R40e5369aac094a31" /><Relationship Type="http://schemas.openxmlformats.org/officeDocument/2006/relationships/slide" Target="/ppt/slides/slide1.xml" Id="Recf8c595951247e6" /><Relationship Type="http://schemas.openxmlformats.org/officeDocument/2006/relationships/slide" Target="/ppt/slides/slide2.xml" Id="Ra713361796f047db" /><Relationship Type="http://schemas.openxmlformats.org/officeDocument/2006/relationships/slide" Target="/ppt/slides/slide3.xml" Id="R84483c2c2b8e4890" /><Relationship Type="http://schemas.openxmlformats.org/officeDocument/2006/relationships/slide" Target="/ppt/slides/slide4.xml" Id="Re63e8c11dd0e4345" /><Relationship Type="http://schemas.openxmlformats.org/officeDocument/2006/relationships/slide" Target="/ppt/slides/slide5.xml" Id="R564d893de9d9473c" /><Relationship Type="http://schemas.openxmlformats.org/officeDocument/2006/relationships/slide" Target="/ppt/slides/slide6.xml" Id="R14c5ca1546e7467b" /><Relationship Type="http://schemas.openxmlformats.org/officeDocument/2006/relationships/slide" Target="/ppt/slides/slide7.xml" Id="R64a1c7ece7184ebc" /><Relationship Type="http://schemas.openxmlformats.org/officeDocument/2006/relationships/slide" Target="/ppt/slides/slide8.xml" Id="R6294a4f99e84447f" /><Relationship Type="http://schemas.openxmlformats.org/officeDocument/2006/relationships/slide" Target="/ppt/slides/slide9.xml" Id="R722dd5da600c4d3c" /><Relationship Type="http://schemas.openxmlformats.org/officeDocument/2006/relationships/slide" Target="/ppt/slides/slide10.xml" Id="Raad482c5cc8b48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4c4e33b1aa42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f883e0262f4943" /><Relationship Type="http://schemas.openxmlformats.org/officeDocument/2006/relationships/notesMaster" Target="/ppt/notesMasters/notesMaster1.xml" Id="Rdfa372ee50ed44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7e4a4d79e14dc2" /><Relationship Type="http://schemas.openxmlformats.org/officeDocument/2006/relationships/notesMaster" Target="/ppt/notesMasters/notesMaster1.xml" Id="R5d97f2cb6cf247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d7e2963b1447bf" /><Relationship Type="http://schemas.openxmlformats.org/officeDocument/2006/relationships/notesMaster" Target="/ppt/notesMasters/notesMaster1.xml" Id="R7b2c476a0f4c49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b1837478e94128" /><Relationship Type="http://schemas.openxmlformats.org/officeDocument/2006/relationships/notesMaster" Target="/ppt/notesMasters/notesMaster1.xml" Id="R7ae2227e123544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66dc44409c4c5e" /><Relationship Type="http://schemas.openxmlformats.org/officeDocument/2006/relationships/notesMaster" Target="/ppt/notesMasters/notesMaster1.xml" Id="Rcb4abc1ece2a43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81961c9f514f1c" /><Relationship Type="http://schemas.openxmlformats.org/officeDocument/2006/relationships/notesMaster" Target="/ppt/notesMasters/notesMaster1.xml" Id="Rb1ab6596f2474e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2eb05e266e4a8e" /><Relationship Type="http://schemas.openxmlformats.org/officeDocument/2006/relationships/notesMaster" Target="/ppt/notesMasters/notesMaster1.xml" Id="R056a14b886ff4b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9467dad49d49e5" /><Relationship Type="http://schemas.openxmlformats.org/officeDocument/2006/relationships/notesMaster" Target="/ppt/notesMasters/notesMaster1.xml" Id="R541dbf32ac8441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db9cdf5e3b4833" /><Relationship Type="http://schemas.openxmlformats.org/officeDocument/2006/relationships/notesMaster" Target="/ppt/notesMasters/notesMaster1.xml" Id="Rd11e1e09f7f848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806c203c554437" /><Relationship Type="http://schemas.openxmlformats.org/officeDocument/2006/relationships/notesMaster" Target="/ppt/notesMasters/notesMaster1.xml" Id="R130c3a4730b745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pela tese: o software conecta decisão comercial, capacidade operacional e evidência de execução.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https://software-house-six.vercel.app/imperio — protótipo demonstrável; dados e integrações simulados, consultado em 26 ago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o mural deixa de ser inspiração solta e passa a ser uma entrada comercial estruturada.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https://software-house-six.vercel.app/imperio — captura própria da demo, consultado em 26 ago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disponibilidade inclui buffers e capacidade de execução, não apenas quantidade física no galpão.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https://software-house-six.vercel.app/imperio — captura própria da demo, consultado em 26 ago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ponto de venda é o handover: a proposta só avança quando o próximo time recebe contexto, responsável e condição de saída.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https://software-house-six.vercel.app/imperio — capturas próprias de CRM e financeiro, consultado em 26 ago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Enfatize o mesmo identificador de evento atravessando todos os módulos. Alterações relevantes criam nova versão; não apagam o histórico.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https://software-house-six.vercel.app/imperio — capturas próprias da torre de controle e logística, consultado em 26 ago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apresente IA mágica. O primeiro ganho vem de regras determinísticas, auditáveis e explicáveis; IA preditiva entra depois de dados confiáveis.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https://software-house-six.vercel.app/imperio — capturas próprias da recomendação simulada e fábrica, consultado em 26 ago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Relacione avaria, manutenção e baixa à rentabilidade do evento e à disponibilidade futura do acervo.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https://software-house-six.vercel.app/imperio — captura própria de retorno e revisão, consultado em 26 ago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camadas 1 e 2 podem operar sem modelo de IA. A camada preditiva exige histórico confiável, avaliação e supervisão humana.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https://software-house-six.vercel.app/imperio — captura própria da recomendação simulada, consultado em 26 ago 2026</a:t>
            </a:r>
          </a:p>
          <a:p xmlns:a="http://schemas.openxmlformats.org/drawingml/2006/main">
            <a:r>
              <a:t>- https://booqable.com/pricing/ — AI Rental Assistant e recursos operacionais, consultado em 26 ago 2026</a:t>
            </a:r>
          </a:p>
          <a:p xmlns:a="http://schemas.openxmlformats.org/drawingml/2006/main">
            <a:r>
              <a:t>- https://pro.goodshuffle.com/pricing — dispatch com auto-route e recursos de inventário, consultado em 26 ago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preços de SaaS não são comparáveis ao full custom: compram o padrão do setor, mas não necessariamente fábrica/CNC, fiscal brasileiro e inteligência específica.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https://booqable.com/pricing/ — planos anuais US$29, US$69 e US$149 por mês; consultado em 26 ago 2026</a:t>
            </a:r>
          </a:p>
          <a:p xmlns:a="http://schemas.openxmlformats.org/drawingml/2006/main">
            <a:r>
              <a:t>- https://rentman.io/pricing — plataforma €39 por mês mais produtos e add-ons por usuário; consultado em 26 ago 2026</a:t>
            </a:r>
          </a:p>
          <a:p xmlns:a="http://schemas.openxmlformats.org/drawingml/2006/main">
            <a:r>
              <a:t>- https://pro.goodshuffle.com/pricing — Lite US$39; Standard US$99 anual ou US$139 mensal; consultado em 26 ago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intervalo usa 1.760–2.540 h do escopo interno, taxa blended de referência compatível com o mercado e reserva de risco para integrações e migração. Não é proposta fechada antes do discovery.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https://clutch.co/developers/pricing — software houses US$25–49/h e custo médio reportado US$132.480; atualizado em 23 ago 2026</a:t>
            </a:r>
          </a:p>
          <a:p xmlns:a="http://schemas.openxmlformats.org/drawingml/2006/main">
            <a:r>
              <a:t>- https://www.bcb.gov.br/indexhome — PTAX de 21 ago 2026: USD venda R$5,1625; EUR venda R$6,0319</a:t>
            </a:r>
          </a:p>
          <a:p xmlns:a="http://schemas.openxmlformats.org/drawingml/2006/main">
            <a:r>
              <a:t>- Base interna: propostas/imperio-product-spec.md — estimativa 1.760–2.540 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b7692c72044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9cb7682bef4ed6" /><Relationship Type="http://schemas.openxmlformats.org/officeDocument/2006/relationships/slideLayout" Target="/ppt/slideLayouts/slideLayout1.xml" Id="R79c24fc94b1f4a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c24fc94b1f4a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d29cbc0b74f0b" /><Relationship Type="http://schemas.openxmlformats.org/officeDocument/2006/relationships/image" Target="/ppt/media/image.jpeg" Id="R978b4d84da804e4d" /><Relationship Type="http://schemas.openxmlformats.org/officeDocument/2006/relationships/notesSlide" Target="/ppt/notesSlides/notesSlide1.xml" Id="R79744467c72a44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ad442bd68422d" /><Relationship Type="http://schemas.openxmlformats.org/officeDocument/2006/relationships/image" Target="/ppt/media/image2.jpeg" Id="R4cd74edc5c44421f" /><Relationship Type="http://schemas.openxmlformats.org/officeDocument/2006/relationships/notesSlide" Target="/ppt/notesSlides/notesSlide2.xml" Id="R1cc4dcfa51c44e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a0aa8589b448d" /><Relationship Type="http://schemas.openxmlformats.org/officeDocument/2006/relationships/image" Target="/ppt/media/image3.jpeg" Id="Rd59b23d2a93146c3" /><Relationship Type="http://schemas.openxmlformats.org/officeDocument/2006/relationships/notesSlide" Target="/ppt/notesSlides/notesSlide3.xml" Id="R10c612f3dbf347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4e48a6ac64c22" /><Relationship Type="http://schemas.openxmlformats.org/officeDocument/2006/relationships/image" Target="/ppt/media/image4.jpeg" Id="R9602795feecb4c7b" /><Relationship Type="http://schemas.openxmlformats.org/officeDocument/2006/relationships/image" Target="/ppt/media/image5.jpeg" Id="R006f89a38b7f409a" /><Relationship Type="http://schemas.openxmlformats.org/officeDocument/2006/relationships/notesSlide" Target="/ppt/notesSlides/notesSlide4.xml" Id="R3625b981602e44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03f7676d243d8" /><Relationship Type="http://schemas.openxmlformats.org/officeDocument/2006/relationships/image" Target="/ppt/media/image6.jpeg" Id="R61b9c371ecfd4bb7" /><Relationship Type="http://schemas.openxmlformats.org/officeDocument/2006/relationships/image" Target="/ppt/media/image7.jpeg" Id="R4864ae0654ff4baa" /><Relationship Type="http://schemas.openxmlformats.org/officeDocument/2006/relationships/notesSlide" Target="/ppt/notesSlides/notesSlide5.xml" Id="R6a5c18c8b2b34e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ea8a95d3d4ffa" /><Relationship Type="http://schemas.openxmlformats.org/officeDocument/2006/relationships/image" Target="/ppt/media/image8.jpeg" Id="R1f22c1140769424a" /><Relationship Type="http://schemas.openxmlformats.org/officeDocument/2006/relationships/image" Target="/ppt/media/image9.jpeg" Id="Rc4035637d52e4b3d" /><Relationship Type="http://schemas.openxmlformats.org/officeDocument/2006/relationships/notesSlide" Target="/ppt/notesSlides/notesSlide6.xml" Id="Rbc780924a69f47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c0672896a47b8" /><Relationship Type="http://schemas.openxmlformats.org/officeDocument/2006/relationships/image" Target="/ppt/media/image10.jpeg" Id="Reb3b50f1a2ff405d" /><Relationship Type="http://schemas.openxmlformats.org/officeDocument/2006/relationships/notesSlide" Target="/ppt/notesSlides/notesSlide7.xml" Id="R6fe10d55e8674b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25ae2ae5a411a" /><Relationship Type="http://schemas.openxmlformats.org/officeDocument/2006/relationships/image" Target="/ppt/media/image11.jpeg" Id="Rc220144ba56e4f9e" /><Relationship Type="http://schemas.openxmlformats.org/officeDocument/2006/relationships/notesSlide" Target="/ppt/notesSlides/notesSlide8.xml" Id="Rc0f7a80d7c0d4f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8344472db4701" /><Relationship Type="http://schemas.openxmlformats.org/officeDocument/2006/relationships/image" Target="/ppt/media/image11.jpeg" Id="R8b8486a6b8004e78" /><Relationship Type="http://schemas.openxmlformats.org/officeDocument/2006/relationships/notesSlide" Target="/ppt/notesSlides/notesSlide9.xml" Id="Rfb24bfdcf1d544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f3c3e38264ea5" /><Relationship Type="http://schemas.openxmlformats.org/officeDocument/2006/relationships/image" Target="/ppt/media/image11.jpeg" Id="Rcfda407848d74386" /><Relationship Type="http://schemas.openxmlformats.org/officeDocument/2006/relationships/notesSlide" Target="/ppt/notesSlides/notesSlide10.xml" Id="Rb7db7f61577145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b4d84da804e4d"/>
          <a:srcRect xmlns:a="http://schemas.openxmlformats.org/drawingml/2006/main" l="8009" t="0" r="80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AB47A-26A3-48B1-91CB-D1407044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C6E98-3E1E-47DB-B0D0-6AE39272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27024-6F2F-47B7-9CC7-881C08BD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7AD5D"/>
                </a:solidFill>
              </a:defRPr>
            </a:pPr>
            <a:r>
              <a:rPr sz="975" b="1">
                <a:solidFill>
                  <a:srgbClr val="D7AD5D"/>
                </a:solidFill>
              </a:rPr>
              <a:t>PROPOSTA COMERCIAL ·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1328A-4FB6-4361-8628-79E65EE4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Uma operação que decide antes de prometer.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E446A-9351-40C4-B402-FA4371EA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4DDE4"/>
                </a:solidFill>
              </a:defRPr>
            </a:pPr>
            <a:r>
              <a:rPr sz="1650" b="0">
                <a:solidFill>
                  <a:srgbClr val="D4DDE4"/>
                </a:solidFill>
              </a:rPr>
              <a:t>Do mural do cliente ao retorno de cada peça, com um único registro operacional.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3A536-6223-4DBA-A716-0F8DFE6C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7AD5D"/>
                </a:solidFill>
              </a:defRPr>
            </a:pPr>
            <a:r>
              <a:rPr sz="1050" b="1">
                <a:solidFill>
                  <a:srgbClr val="D7AD5D"/>
                </a:solidFill>
              </a:rPr>
              <a:t>IMPÉRIO LOCAÇÕES · ÁPICE</a:t>
            </a:r>
          </a:p>
        </p:txBody>
      </p:sp>
    </p:spTree>
    <p:extLst>
      <p:ext uri="{BB962C8B-B14F-4D97-AF65-F5344CB8AC3E}">
        <p14:creationId xmlns:p14="http://schemas.microsoft.com/office/powerpoint/2010/main" val="17030663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DF1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9DE14-A131-4941-A9B3-8F21E651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B674C"/>
                </a:solidFill>
              </a:defRPr>
            </a:pPr>
            <a:r>
              <a:rPr sz="975" b="1">
                <a:solidFill>
                  <a:srgbClr val="1B674C"/>
                </a:solidFill>
              </a:rPr>
              <a:t>01 · EXPERIÊNCIA DO CLIENTE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0C8EC-6851-4445-BFB1-FC2C758C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43B"/>
                </a:solidFill>
              </a:defRPr>
            </a:pPr>
            <a:r>
              <a:rPr sz="3150" b="1">
                <a:solidFill>
                  <a:srgbClr val="10243B"/>
                </a:solidFill>
              </a:rPr>
              <a:t>O cliente monta o evento antes de preencher o briefing.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8E11C-44D5-46CD-AF9D-7D27CE27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955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70974-4D09-468F-BF0B-94E0923E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1F71B-A0D6-45BA-91BB-C3212CF8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Mural comprável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82A73-C066-4093-9FCD-5CEB02F6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29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A foto revela os produtos e preserva a referência visual.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A51F2-EDA4-480F-AF62-CD7E24E6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6707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76504-CB10-4CF5-A1F2-44920578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0517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D4429-8488-413E-B0FC-2EA3D472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Carrinho por evento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8A07B-EF38-43EB-802C-BEE56C39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329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Uma conta guarda vários projetos, peças e versões.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8F848-A371-4AC7-8CD5-9361633C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3BDE0-C370-4B0C-8C3C-EE654E36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767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A0C5C-0806-456F-BB23-E5D4B828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Checkout contextual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1A0317-88F9-43AE-982A-4B335446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329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Datas, local e acesso entram somente na revisão.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B36A3-76EA-41C1-936A-F820B073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388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E49C5E-9EE2-49FE-AD96-39ECA0BC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7AD5D"/>
                </a:solidFill>
              </a:defRPr>
            </a:pPr>
            <a:r>
              <a:rPr sz="900" b="1">
                <a:solidFill>
                  <a:srgbClr val="D7AD5D"/>
                </a:solidFill>
              </a:rPr>
              <a:t>Menos atrito comercial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DE429-B2FD-4525-9ABB-9BCF5352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 seleção já chega ao CRM com o contexto do evento.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F485C9-B8C5-4546-B4E1-6E8AB006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38175"/>
            <a:ext cx="680085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43B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74edc5c44421f"/>
          <a:srcRect xmlns:a="http://schemas.openxmlformats.org/drawingml/2006/main" l="20307" t="0" r="203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685800"/>
            <a:ext cx="6705600" cy="53340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3BF967-4DE6-4127-A0B6-1F6C43CC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783"/>
                </a:solidFill>
              </a:defRPr>
            </a:pPr>
            <a:r>
              <a:rPr sz="750" b="1">
                <a:solidFill>
                  <a:srgbClr val="687783"/>
                </a:solidFill>
              </a:rPr>
              <a:t>IMPÉRIO LOCAÇÕES · CONCEITO DE SOLUÇÃO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05E950-FD2F-4395-AB0A-FFE0BBD2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10243B"/>
                </a:solidFill>
              </a:defRPr>
            </a:pPr>
            <a:r>
              <a:rPr sz="825" b="1">
                <a:solidFill>
                  <a:srgbClr val="10243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794972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687AF1-8A9D-4AF5-B58D-6D9FE46D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65B18"/>
                </a:solidFill>
              </a:defRPr>
            </a:pPr>
            <a:r>
              <a:rPr sz="975" b="1">
                <a:solidFill>
                  <a:srgbClr val="A65B18"/>
                </a:solidFill>
              </a:rPr>
              <a:t>02 · PROMESSA OPERACIONAL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BB932-B1B3-48D7-984C-96EEC6DE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B"/>
                </a:solidFill>
              </a:defRPr>
            </a:pPr>
            <a:r>
              <a:rPr sz="3000" b="1">
                <a:solidFill>
                  <a:srgbClr val="10243B"/>
                </a:solidFill>
              </a:rPr>
              <a:t>Disponibilidade é calculada para o evento — não pelo saldo de hoje.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2A1F7-7E24-4B30-B2CE-D13BD8DF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860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9454E-961C-4E5F-9B63-B813D903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ACDB9-3EDB-4A37-A59B-203DEC1A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Janela completa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B7F19-C873-4B08-B3E2-26DA5F7D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329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Preparo, entrega, montagem, retirada, retorno e limpeza.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9E518-ECC4-4AFB-B714-87C0E6D2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5757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3F7E8-EF76-41D5-8253-39043A26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567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565C0-2961-42BE-8AFC-29301F67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Local e acesso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83154-D312-4481-B52C-4C3BBAA2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329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Cidade, rota, pedágio, doca, elevador, escada e equipe.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FDB88-448B-4CBD-8699-F943796E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5DB26-1F3A-4668-B4E6-FA1276AD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672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E7E43-2E67-4B69-B130-271906D2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Cobertura da falta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32F2C-A180-4DA3-937C-61AAF3A4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329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Acervo, substituição, sublocação, produção ou redução.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350E9-446D-4139-BBB0-B8836677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674C"/>
                </a:solidFill>
              </a:defRPr>
            </a:pPr>
            <a:r>
              <a:rPr sz="1350" b="1">
                <a:solidFill>
                  <a:srgbClr val="1B674C"/>
                </a:solidFill>
              </a:rPr>
              <a:t>O sistema só promete depois de cruzar tempo + estoque + fábrica + logística.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F27E9-1975-4FFF-90D2-B827B535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771525"/>
            <a:ext cx="653415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43B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b23d2a93146c3"/>
          <a:srcRect xmlns:a="http://schemas.openxmlformats.org/drawingml/2006/main" l="20432" t="0" r="204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819150"/>
            <a:ext cx="6438900" cy="5143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3F28D9-7D7A-46B1-A2B1-FBD99CB1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783"/>
                </a:solidFill>
              </a:defRPr>
            </a:pPr>
            <a:r>
              <a:rPr sz="750" b="1">
                <a:solidFill>
                  <a:srgbClr val="687783"/>
                </a:solidFill>
              </a:rPr>
              <a:t>IMPÉRIO LOCAÇÕES · CONCEITO DE SOLUÇÃO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163B9-CA6D-43F4-B481-0BE9D4D5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10243B"/>
                </a:solidFill>
              </a:defRPr>
            </a:pPr>
            <a:r>
              <a:rPr sz="825" b="1">
                <a:solidFill>
                  <a:srgbClr val="10243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268489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F1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9811B5-D801-4E51-A582-879774ED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B674C"/>
                </a:solidFill>
              </a:defRPr>
            </a:pPr>
            <a:r>
              <a:rPr sz="975" b="1">
                <a:solidFill>
                  <a:srgbClr val="1B674C"/>
                </a:solidFill>
              </a:rPr>
              <a:t>03 · CRM E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50BA2-FF01-49AC-B914-97F5DB4E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4362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B"/>
                </a:solidFill>
              </a:defRPr>
            </a:pPr>
            <a:r>
              <a:rPr sz="2850" b="1">
                <a:solidFill>
                  <a:srgbClr val="10243B"/>
                </a:solidFill>
              </a:rPr>
              <a:t>O CRM orquestra a próxima decisão — não apenas registra o lead.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AC8D4-18DE-4F66-85A0-0D14C0E2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783"/>
                </a:solidFill>
              </a:defRPr>
            </a:pPr>
            <a:r>
              <a:rPr sz="1425" b="0">
                <a:solidFill>
                  <a:srgbClr val="687783"/>
                </a:solidFill>
              </a:rPr>
              <a:t>Um eventId acompanha proposta, reserva, produção, entrega, cobrança e retorno.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04B8A-6317-4D5A-B135-1E87E99F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527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36F43-B121-45BE-8D5A-820588A1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08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776B1-0649-4CB1-9C22-4BE12DF9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Próxima 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8A012-D1FA-4819-858E-E1F86F8E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Responsável, prazo, dependência e bloqueio ficam visíveis.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F5724-D7C8-4FD6-8836-39A1540C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0047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6504C-EAC7-4316-A545-95F87E82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3857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F1071-7325-4BFD-A8B4-3C9CEBC4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Proposta e reserva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37E21-71C5-4A1D-B266-18A223DC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Aprovação cria hold; pagamento confirma peças concretas.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1009F-81CC-4087-A1A8-E777B2E7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7D233-ED2D-48F5-BB49-108DA370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68679-12FC-437B-B4C8-F7DE3578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Pacote executável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7F122-BABD-4FFC-9BFA-179934E2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Cada área recebe somente o necessário para executar.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29017-1012-476C-B989-C76D759D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619125"/>
            <a:ext cx="6686550" cy="3800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43B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2795feecb4c7b"/>
          <a:srcRect xmlns:a="http://schemas.openxmlformats.org/drawingml/2006/main" l="7982" t="0" r="79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67300" y="666750"/>
            <a:ext cx="6591300" cy="37052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FDCE1-6D7F-456F-A204-41149E45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467225"/>
            <a:ext cx="46863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43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f89a38b7f409a"/>
          <a:srcRect xmlns:a="http://schemas.openxmlformats.org/drawingml/2006/main" l="0" t="10254" r="0" b="102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4514850"/>
            <a:ext cx="4591050" cy="172402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84156-FEF2-44B6-B6CD-37C9B1A2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957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B674C"/>
                </a:solidFill>
              </a:defRPr>
            </a:pPr>
            <a:r>
              <a:rPr sz="900" b="1">
                <a:solidFill>
                  <a:srgbClr val="1B674C"/>
                </a:solidFill>
              </a:rPr>
              <a:t>CRM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3BBD36-860D-4D23-BB41-9A5E3224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101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FINANCEIRO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C763C6-950B-4BEA-BB33-556387F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783"/>
                </a:solidFill>
              </a:defRPr>
            </a:pPr>
            <a:r>
              <a:rPr sz="750" b="1">
                <a:solidFill>
                  <a:srgbClr val="687783"/>
                </a:solidFill>
              </a:rPr>
              <a:t>IMPÉRIO LOCAÇÕES · CONCEITO DE SOLUÇÃO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DBAB0D-1E4D-4DBF-AE75-56C4D238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10243B"/>
                </a:solidFill>
              </a:defRPr>
            </a:pPr>
            <a:r>
              <a:rPr sz="825" b="1">
                <a:solidFill>
                  <a:srgbClr val="10243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758341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DF1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0B7BBB-A375-4CCE-9ECD-781271BC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B674C"/>
                </a:solidFill>
              </a:defRPr>
            </a:pPr>
            <a:r>
              <a:rPr sz="975" b="1">
                <a:solidFill>
                  <a:srgbClr val="1B674C"/>
                </a:solidFill>
              </a:rPr>
              <a:t>04 · FLUXO DA INFORMAÇÃO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73C34-657A-4B55-8C9E-8BC0260A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B"/>
                </a:solidFill>
              </a:defRPr>
            </a:pPr>
            <a:r>
              <a:rPr sz="3000" b="1">
                <a:solidFill>
                  <a:srgbClr val="10243B"/>
                </a:solidFill>
              </a:rPr>
              <a:t>Um registro acompanha o evento inteiro.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C1157-8B75-4123-BD8A-31451EC5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783"/>
                </a:solidFill>
              </a:defRPr>
            </a:pPr>
            <a:r>
              <a:rPr sz="1425" b="0">
                <a:solidFill>
                  <a:srgbClr val="687783"/>
                </a:solidFill>
              </a:rPr>
              <a:t>Pedido → proposta → reserva → produção → separação → rota → retorno → financeiro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0EB0D-6D5A-4308-B2F9-0A0E44F3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819275"/>
            <a:ext cx="53149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43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9c371ecfd4bb7"/>
          <a:srcRect xmlns:a="http://schemas.openxmlformats.org/drawingml/2006/main" l="7975" t="0" r="79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66900"/>
            <a:ext cx="5219700" cy="2933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DA859-1A1B-4E34-BC61-E19AD1EF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819275"/>
            <a:ext cx="53149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43B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4ae0654ff4baa"/>
          <a:srcRect xmlns:a="http://schemas.openxmlformats.org/drawingml/2006/main" l="7975" t="0" r="79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1866900"/>
            <a:ext cx="5219700" cy="2933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4D5E3-D21C-44C4-A1C3-B797CDBA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Comercial entrega uma promessa executável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19E7A-879C-4829-BB0A-6D818224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783"/>
                </a:solidFill>
              </a:defRPr>
            </a:pPr>
            <a:r>
              <a:rPr sz="1275" b="0">
                <a:solidFill>
                  <a:srgbClr val="687783"/>
                </a:solidFill>
              </a:rPr>
              <a:t>Evento, peças, janela, acesso, valor, versão e responsável.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EBA6B-4281-4EFE-A212-58F91D5E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91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A operação devolve evidência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73832-D449-4651-968C-82FA9EB5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29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783"/>
                </a:solidFill>
              </a:defRPr>
            </a:pPr>
            <a:r>
              <a:rPr sz="1275" b="0">
                <a:solidFill>
                  <a:srgbClr val="687783"/>
                </a:solidFill>
              </a:rPr>
              <a:t>Tags, fotos, divergências, avarias, custos e conclusão.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A59BB-74CF-40F2-AF9E-EF439302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3CE5A-D26A-4E53-A20B-1E85B820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783"/>
                </a:solidFill>
              </a:defRPr>
            </a:pPr>
            <a:r>
              <a:rPr sz="750" b="1">
                <a:solidFill>
                  <a:srgbClr val="687783"/>
                </a:solidFill>
              </a:rPr>
              <a:t>IMPÉRIO LOCAÇÕES · CONCEITO DE SOLUÇÃO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53EFC-9377-41C5-A289-91E62330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10243B"/>
                </a:solidFill>
              </a:defRPr>
            </a:pPr>
            <a:r>
              <a:rPr sz="825" b="1">
                <a:solidFill>
                  <a:srgbClr val="10243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08797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73DA1F-2897-4334-8549-C44A3958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65B18"/>
                </a:solidFill>
              </a:defRPr>
            </a:pPr>
            <a:r>
              <a:rPr sz="975" b="1">
                <a:solidFill>
                  <a:srgbClr val="A65B18"/>
                </a:solidFill>
              </a:rPr>
              <a:t>05 · INTELIGÊNCIA DE DECISÃO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AF8A0-9884-469F-BD45-93101CF6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45243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B"/>
                </a:solidFill>
              </a:defRPr>
            </a:pPr>
            <a:r>
              <a:rPr sz="3000" b="1">
                <a:solidFill>
                  <a:srgbClr val="10243B"/>
                </a:solidFill>
              </a:rPr>
              <a:t>Quando falta estoque, o sistema calcula se vale produzir.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0AFA4-5DE6-475C-9092-B844F5BB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428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783"/>
                </a:solidFill>
              </a:defRPr>
            </a:pPr>
            <a:r>
              <a:rPr sz="1425" b="0">
                <a:solidFill>
                  <a:srgbClr val="687783"/>
                </a:solidFill>
              </a:rPr>
              <a:t>Nenhuma ordem nasce sozinha: regras auditáveis com aprovação humana.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AF78A-2479-4A12-88BD-DC16341C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6707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2F6D7-74D5-4539-93E1-C8918A7A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0517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93618-5A65-40F3-8E9C-2E031CE3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Margem do pedido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A1ECD-7496-44B7-A788-4EC2A015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Receita preservada menos produção, logística e capital.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ECD6F-F208-42EF-AFD1-340ECB18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624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F45D7-B62B-4219-B7BB-4C2B64DB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005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304D7-89F2-4C27-87FD-17FA8B27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Demanda destravada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C96F75-D10D-49B7-830B-79361F35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Pedidos perdidos compatíveis nos próximos 120 dias.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D7BB6-E146-41C0-9585-28B55A93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7EBD8-832F-49F6-B70F-737A73F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3D75E-4A85-46E1-A8E2-85E532BA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Alternativas reais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357AB-79E6-4C36-A3F7-D8DDC1FB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Produzir × substituir × sublocar × reduzir quantidade.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FAF6F0-BFFA-46BE-A2A1-ED314E9C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619125"/>
            <a:ext cx="6686550" cy="3800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43B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2c1140769424a"/>
          <a:srcRect xmlns:a="http://schemas.openxmlformats.org/drawingml/2006/main" l="7982" t="0" r="79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67300" y="666750"/>
            <a:ext cx="6591300" cy="37052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C04F45-224C-430E-AE51-3290D31F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467225"/>
            <a:ext cx="46863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43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35637d52e4b3d"/>
          <a:srcRect xmlns:a="http://schemas.openxmlformats.org/drawingml/2006/main" l="0" t="10254" r="0" b="102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4514850"/>
            <a:ext cx="4591050" cy="172402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36470B-BFF5-4175-99F1-9FB52326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529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EA4448-0B41-4E1F-8C8A-81D67D9E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244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DECISÃO EXPLICÁVEL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1B5B48-183E-42BB-B27D-09FB32C6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783"/>
                </a:solidFill>
              </a:defRPr>
            </a:pPr>
            <a:r>
              <a:rPr sz="750" b="1">
                <a:solidFill>
                  <a:srgbClr val="687783"/>
                </a:solidFill>
              </a:rPr>
              <a:t>IMPÉRIO LOCAÇÕES · CONCEITO DE SOLUÇÃO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6903EF-FC76-4523-987A-60F1EF3D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10243B"/>
                </a:solidFill>
              </a:defRPr>
            </a:pPr>
            <a:r>
              <a:rPr sz="825" b="1">
                <a:solidFill>
                  <a:srgbClr val="10243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603702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83D97-AD0A-4AE1-9B59-DBE98903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65B18"/>
                </a:solidFill>
              </a:defRPr>
            </a:pPr>
            <a:r>
              <a:rPr sz="975" b="1">
                <a:solidFill>
                  <a:srgbClr val="A65B18"/>
                </a:solidFill>
              </a:rPr>
              <a:t>06 · RETORNO E RENTABILIDADE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0DE8E-CE6A-4729-9D19-6C2118C2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4429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B"/>
                </a:solidFill>
              </a:defRPr>
            </a:pPr>
            <a:r>
              <a:rPr sz="3000" b="1">
                <a:solidFill>
                  <a:srgbClr val="10243B"/>
                </a:solidFill>
              </a:rPr>
              <a:t>O evento só termina quando cada peça tem destino e custo.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7947A-EAFE-4C0A-B189-F7EEB2AD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717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B2957-5FC1-49B7-8D60-E38546EB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98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8BA69-815C-4985-ABF0-6B9A5FE8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Inspeção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ADCC0-5CB7-487B-84B8-D371446C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Foto, condição, severidade e responsabilidade.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6BB1D-D4C3-4634-98B1-C1A5F137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623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ADC00-D203-48B0-A921-041AEBC9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04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2CE57-7CD5-4771-A2C9-FE49901F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Manutenção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4CD41-5C62-4121-824C-095B400A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Limpeza, reparo, tapeçaria, localização ou baixa.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FD0E0-3097-45A2-B54C-B0A8D12B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529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C207F-702F-4671-AC41-EDC23890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910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426C2-5A5D-4ADA-8E5C-B22ECA20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Resultado real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FD831C-2882-4ADE-9CE2-D38E31B6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Avaria e retrabalho retornam à margem do evento.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7D4D8-F0CF-4264-94CF-9BE6CA22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F"/>
          </a:solidFill>
          <a:ln xmlns:a="http://schemas.openxmlformats.org/drawingml/2006/main" w="9525">
            <a:solidFill>
              <a:srgbClr val="A65B1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874B4-D2CF-4942-AA4A-0CB892D3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65B18"/>
                </a:solidFill>
              </a:defRPr>
            </a:pPr>
            <a:r>
              <a:rPr sz="900" b="1">
                <a:solidFill>
                  <a:srgbClr val="A65B18"/>
                </a:solidFill>
              </a:rPr>
              <a:t>Regra de disponibilidade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E00769-435F-44D6-AD52-2CFE711C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43B"/>
                </a:solidFill>
              </a:defRPr>
            </a:pPr>
            <a:r>
              <a:rPr sz="1200" b="1">
                <a:solidFill>
                  <a:srgbClr val="10243B"/>
                </a:solidFill>
              </a:rPr>
              <a:t>Peça sem inspeção não volta ao disponível.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A4AC5-DA98-49E3-96CE-4FF9503C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095375"/>
            <a:ext cx="6686550" cy="3800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43B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b50f1a2ff405d"/>
          <a:srcRect xmlns:a="http://schemas.openxmlformats.org/drawingml/2006/main" l="7982" t="0" r="79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67300" y="1143000"/>
            <a:ext cx="6591300" cy="370522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9F6F6D-F4FD-40D8-BA4A-53CD5032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B674C"/>
                </a:solidFill>
              </a:defRPr>
            </a:pPr>
            <a:r>
              <a:rPr sz="1200" b="1">
                <a:solidFill>
                  <a:srgbClr val="1B674C"/>
                </a:solidFill>
              </a:rPr>
              <a:t>EVENTO → INSPEÇÃO → OS → ESTOQUE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BD4AF0-0B97-49EC-A932-3F8F282C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783"/>
                </a:solidFill>
              </a:defRPr>
            </a:pPr>
            <a:r>
              <a:rPr sz="750" b="1">
                <a:solidFill>
                  <a:srgbClr val="687783"/>
                </a:solidFill>
              </a:rPr>
              <a:t>IMPÉRIO LOCAÇÕES · CONCEITO DE SOLUÇÃO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57A57E-0236-4BD1-8B03-591C99FE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10243B"/>
                </a:solidFill>
              </a:defRPr>
            </a:pPr>
            <a:r>
              <a:rPr sz="825" b="1">
                <a:solidFill>
                  <a:srgbClr val="10243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022466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76FF3A-A46F-45B5-88BE-460B245C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7AD5D"/>
                </a:solidFill>
              </a:defRPr>
            </a:pPr>
            <a:r>
              <a:rPr sz="975" b="1">
                <a:solidFill>
                  <a:srgbClr val="D7AD5D"/>
                </a:solidFill>
              </a:rPr>
              <a:t>INTELIGÊNCIA COM GOVERNANÇA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A3BD2-A8EB-4D33-B017-CA490517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 inteligência entra em camadas — e cada uma tem uma função.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0144ba56e4f9e"/>
          <a:srcRect xmlns:a="http://schemas.openxmlformats.org/drawingml/2006/main" l="7927" t="0" r="79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01050" y="400050"/>
            <a:ext cx="3257550" cy="1828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0367A-9D5D-4CA3-9C1B-9F3565C8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7AD5D"/>
                </a:solidFill>
              </a:defRPr>
            </a:pPr>
            <a:r>
              <a:rPr sz="900" b="1">
                <a:solidFill>
                  <a:srgbClr val="D7AD5D"/>
                </a:solidFill>
              </a:rPr>
              <a:t>CAMADA 1 · AGORA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C2D57-8D37-4688-9948-6E02512E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Regras operacionais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DE233-837B-4EF6-979D-6D4A0184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Disponibilidade temporal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Buffers e holds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Conflitos e capacidade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Alertas de handover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68116-5F68-46BA-A724-AA9FC097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6700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5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5D5E3-E7A6-43A3-A1A0-6726986C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28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EC3AE"/>
                </a:solidFill>
              </a:defRPr>
            </a:pPr>
            <a:r>
              <a:rPr sz="900" b="1">
                <a:solidFill>
                  <a:srgbClr val="8EC3AE"/>
                </a:solidFill>
              </a:rPr>
              <a:t>CAMADA 2 · DECISÃO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D667B-8067-49BA-990F-EAAA1FA2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9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Economia do evento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F0C88-15D9-4353-B592-E2A177D1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2425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Produzir ou sublocar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Margem por evento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Demanda destravada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Custo de avaria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A8539-6FEE-4DA9-A126-7D319824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6700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5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67704-8AFA-4B07-B829-78F6E2FD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28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6B47E"/>
                </a:solidFill>
              </a:defRPr>
            </a:pPr>
            <a:r>
              <a:rPr sz="900" b="1">
                <a:solidFill>
                  <a:srgbClr val="E6B47E"/>
                </a:solidFill>
              </a:rPr>
              <a:t>CAMADA 3 · EVOLUÇÃO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84012-FB30-4712-BCDD-3E063973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09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Otimização e 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40616-2916-4DA1-8012-00524C3A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Rotas e carga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Previsão de demanda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Sugestão de mix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Leitura de briefing e foto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8037A-3DC5-49EF-A254-C01D0582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64D53-072B-4A2C-8E12-F4140F85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43B"/>
                </a:solidFill>
              </a:defRPr>
            </a:pPr>
            <a:r>
              <a:rPr sz="1275" b="1">
                <a:solidFill>
                  <a:srgbClr val="10243B"/>
                </a:solidFill>
              </a:rPr>
              <a:t>COMEÇAMOS PELO DETERMINÍSTICO: explicável, auditável e com decisão humana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F4D219-A02D-45A9-B19D-E844E76D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B9C8D5"/>
                </a:solidFill>
              </a:defRPr>
            </a:pPr>
            <a:r>
              <a:rPr sz="750" b="1">
                <a:solidFill>
                  <a:srgbClr val="B9C8D5"/>
                </a:solidFill>
              </a:rPr>
              <a:t>IMPÉRIO LOCAÇÕES · CONCEITO DE SOLUÇÃO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872E4-AFCE-4F32-9565-4C05AAF8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D7AD5D"/>
                </a:solidFill>
              </a:defRPr>
            </a:pPr>
            <a:r>
              <a:rPr sz="825" b="1">
                <a:solidFill>
                  <a:srgbClr val="D7AD5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695034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76FF3A-A46F-45B5-88BE-460B245C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7AD5D"/>
                </a:solidFill>
              </a:defRPr>
            </a:pPr>
            <a:r>
              <a:rPr sz="975" b="1">
                <a:solidFill>
                  <a:srgbClr val="D7AD5D"/>
                </a:solidFill>
              </a:rPr>
              <a:t>ANÁLISE DE MERCADO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A3BD2-A8EB-4D33-B017-CA490517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SaaS prova o padrão; o diferencial justifica o software próprio.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486a6b8004e78"/>
          <a:srcRect xmlns:a="http://schemas.openxmlformats.org/drawingml/2006/main" l="7927" t="0" r="79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01050" y="400050"/>
            <a:ext cx="3257550" cy="1828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0367A-9D5D-4CA3-9C1B-9F3565C8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7AD5D"/>
                </a:solidFill>
              </a:defRPr>
            </a:pPr>
            <a:r>
              <a:rPr sz="900" b="1">
                <a:solidFill>
                  <a:srgbClr val="D7AD5D"/>
                </a:solidFill>
              </a:rPr>
              <a:t>SAAS PRONTO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C2D57-8D37-4688-9948-6E02512E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US$ 29–149/mês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DE233-837B-4EF6-979D-6D4A0184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Inventário e pedidos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Disponibilidade e contrato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Tracking e relatórios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Implantação rápida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68116-5F68-46BA-A724-AA9FC097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6700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5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5D5E3-E7A6-43A3-A1A0-6726986C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28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EC3AE"/>
                </a:solidFill>
              </a:defRPr>
            </a:pPr>
            <a:r>
              <a:rPr sz="900" b="1">
                <a:solidFill>
                  <a:srgbClr val="8EC3AE"/>
                </a:solidFill>
              </a:rPr>
              <a:t>CAMADA HÍBRIDA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D667B-8067-49BA-990F-EAAA1FA2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9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R$ 185–320 mil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F0C88-15D9-4353-B592-E2A177D1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2425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Site + CRM próprios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Estoque Now/ERP integrado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Inteligência de decisão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Menor risco de migração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A8539-6FEE-4DA9-A126-7D319824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6700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5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67704-8AFA-4B07-B829-78F6E2FD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28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6B47E"/>
                </a:solidFill>
              </a:defRPr>
            </a:pPr>
            <a:r>
              <a:rPr sz="900" b="1">
                <a:solidFill>
                  <a:srgbClr val="E6B47E"/>
                </a:solidFill>
              </a:rPr>
              <a:t>FULL CUSTOM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84012-FB30-4712-BCDD-3E063973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09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R$ 380–550 mil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40616-2916-4DA1-8012-00524C3A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Fábrica e CNC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Tags e custódia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Fiscal e financeiro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Controle ponta a ponta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8037A-3DC5-49EF-A254-C01D0582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64D53-072B-4A2C-8E12-F4140F85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43B"/>
                </a:solidFill>
              </a:defRPr>
            </a:pPr>
            <a:r>
              <a:rPr sz="1275" b="1">
                <a:solidFill>
                  <a:srgbClr val="10243B"/>
                </a:solidFill>
              </a:rPr>
              <a:t>RECOMENDAÇÃO: discovery + MVP híbrido; substituir sistemas só após provar APIs e fluxo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F4D219-A02D-45A9-B19D-E844E76D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B9C8D5"/>
                </a:solidFill>
              </a:defRPr>
            </a:pPr>
            <a:r>
              <a:rPr sz="750" b="1">
                <a:solidFill>
                  <a:srgbClr val="B9C8D5"/>
                </a:solidFill>
              </a:rPr>
              <a:t>IMPÉRIO LOCAÇÕES · CONCEITO DE SOLUÇÃO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872E4-AFCE-4F32-9565-4C05AAF8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D7AD5D"/>
                </a:solidFill>
              </a:defRPr>
            </a:pPr>
            <a:r>
              <a:rPr sz="825" b="1">
                <a:solidFill>
                  <a:srgbClr val="D7AD5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695034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76FF3A-A46F-45B5-88BE-460B245C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7AD5D"/>
                </a:solidFill>
              </a:defRPr>
            </a:pPr>
            <a:r>
              <a:rPr sz="975" b="1">
                <a:solidFill>
                  <a:srgbClr val="D7AD5D"/>
                </a:solidFill>
              </a:rPr>
              <a:t>INVESTIMENTO E FASEAMENTO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A3BD2-A8EB-4D33-B017-CA490517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O investimento acompanha o valor entregue — e reduz risco por etapa.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a407848d74386"/>
          <a:srcRect xmlns:a="http://schemas.openxmlformats.org/drawingml/2006/main" l="7927" t="0" r="79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01050" y="400050"/>
            <a:ext cx="3257550" cy="1828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0367A-9D5D-4CA3-9C1B-9F3565C8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7AD5D"/>
                </a:solidFill>
              </a:defRPr>
            </a:pPr>
            <a:r>
              <a:rPr sz="900" b="1">
                <a:solidFill>
                  <a:srgbClr val="D7AD5D"/>
                </a:solidFill>
              </a:rPr>
              <a:t>0 · DESCOBERTA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C2D57-8D37-4688-9948-6E02512E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R$ 18–25 mil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DE233-837B-4EF6-979D-6D4A0184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80–120 horas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Processos e dados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APIs e arquitetura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Estimativa fechada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68116-5F68-46BA-A724-AA9FC097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6700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5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5D5E3-E7A6-43A3-A1A0-6726986C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28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EC3AE"/>
                </a:solidFill>
              </a:defRPr>
            </a:pPr>
            <a:r>
              <a:rPr sz="900" b="1">
                <a:solidFill>
                  <a:srgbClr val="8EC3AE"/>
                </a:solidFill>
              </a:rPr>
              <a:t>1 · MVP OPERACIONAL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D667B-8067-49BA-990F-EAAA1FA2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9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R$ 185–245 mil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F0C88-15D9-4353-B592-E2A177D1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2425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900–1.200 horas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12–16 semanas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Cliente + CRM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Reserva + estoque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A8539-6FEE-4DA9-A126-7D319824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6700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5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67704-8AFA-4B07-B829-78F6E2FD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28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6B47E"/>
                </a:solidFill>
              </a:defRPr>
            </a:pPr>
            <a:r>
              <a:rPr sz="900" b="1">
                <a:solidFill>
                  <a:srgbClr val="E6B47E"/>
                </a:solidFill>
              </a:rPr>
              <a:t>PROJETO COMPLETO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84012-FB30-4712-BCDD-3E063973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09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R$ 380–550 mil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40616-2916-4DA1-8012-00524C3A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1.760–2.540 horas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5–8 meses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Fábrica + logística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Financeiro + inteligência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8037A-3DC5-49EF-A254-C01D0582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64D53-072B-4A2C-8E12-F4140F85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43B"/>
                </a:solidFill>
              </a:defRPr>
            </a:pPr>
            <a:r>
              <a:rPr sz="1275" b="1">
                <a:solidFill>
                  <a:srgbClr val="10243B"/>
                </a:solidFill>
              </a:rPr>
              <a:t>PRÓXIMA DECISÃO: autorizar discovery e escolher a primeira fonte de verdade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F4D219-A02D-45A9-B19D-E844E76D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B9C8D5"/>
                </a:solidFill>
              </a:defRPr>
            </a:pPr>
            <a:r>
              <a:rPr sz="750" b="1">
                <a:solidFill>
                  <a:srgbClr val="B9C8D5"/>
                </a:solidFill>
              </a:rPr>
              <a:t>IMPÉRIO LOCAÇÕES · CONCEITO DE SOLUÇÃO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872E4-AFCE-4F32-9565-4C05AAF8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D7AD5D"/>
                </a:solidFill>
              </a:defRPr>
            </a:pPr>
            <a:r>
              <a:rPr sz="825" b="1">
                <a:solidFill>
                  <a:srgbClr val="D7AD5D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69503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2026-08-26T19:27:44.4460000Z</dcterms:created>
  <dcterms:modified xsi:type="dcterms:W3CDTF">2026-08-26T19:27:44.4460000Z</dcterms:modified>
</coreProperties>
</file>