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24649ab764406" /><Relationship Type="http://schemas.openxmlformats.org/officeDocument/2006/relationships/extended-properties" Target="/docProps/app.xml" Id="R7e82d10e017c404d" /><Relationship Type="http://schemas.openxmlformats.org/officeDocument/2006/relationships/officeDocument" Target="/ppt/presentation.xml" Id="R2438c87f136b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92abff83645c5"/>
  </p:sldMasterIdLst>
  <p:notesMasterIdLst>
    <p:notesMasterId xmlns:r="http://schemas.openxmlformats.org/officeDocument/2006/relationships" r:id="R12b5667419be46ba"/>
  </p:notesMasterIdLst>
  <p:sldIdLst>
    <p:sldId xmlns:r="http://schemas.openxmlformats.org/officeDocument/2006/relationships" id="256" r:id="R86286e1365dc498b"/>
    <p:sldId xmlns:r="http://schemas.openxmlformats.org/officeDocument/2006/relationships" id="257" r:id="Ra027ac1b2b004191"/>
    <p:sldId xmlns:r="http://schemas.openxmlformats.org/officeDocument/2006/relationships" id="258" r:id="R549cb9faebf9464f"/>
    <p:sldId xmlns:r="http://schemas.openxmlformats.org/officeDocument/2006/relationships" id="259" r:id="Re98c5e31df9647c1"/>
    <p:sldId xmlns:r="http://schemas.openxmlformats.org/officeDocument/2006/relationships" id="260" r:id="R7f71f0c6319448f4"/>
    <p:sldId xmlns:r="http://schemas.openxmlformats.org/officeDocument/2006/relationships" id="261" r:id="R21075ce9c0354101"/>
    <p:sldId xmlns:r="http://schemas.openxmlformats.org/officeDocument/2006/relationships" id="262" r:id="R312495358088439d"/>
    <p:sldId xmlns:r="http://schemas.openxmlformats.org/officeDocument/2006/relationships" id="263" r:id="R069d939595e34755"/>
    <p:sldId xmlns:r="http://schemas.openxmlformats.org/officeDocument/2006/relationships" id="264" r:id="Rec17019839fa4216"/>
    <p:sldId xmlns:r="http://schemas.openxmlformats.org/officeDocument/2006/relationships" id="265" r:id="R2d84a9489fd4408a"/>
    <p:sldId xmlns:r="http://schemas.openxmlformats.org/officeDocument/2006/relationships" id="266" r:id="Re950897bdf1548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ace49438c4687" /><Relationship Type="http://schemas.openxmlformats.org/officeDocument/2006/relationships/slideMaster" Target="/ppt/slideMasters/slideMaster1.xml" Id="Rc4392abff83645c5" /><Relationship Type="http://schemas.openxmlformats.org/officeDocument/2006/relationships/notesMaster" Target="/ppt/notesMasters/notesMaster1.xml" Id="R12b5667419be46ba" /><Relationship Type="http://schemas.openxmlformats.org/officeDocument/2006/relationships/presProps" Target="/ppt/presProps.xml" Id="R269be240f8d44176" /><Relationship Type="http://schemas.openxmlformats.org/officeDocument/2006/relationships/tableStyles" Target="/ppt/tableStyles.xml" Id="Ra97f4fb6db4743de" /><Relationship Type="http://schemas.openxmlformats.org/officeDocument/2006/relationships/slide" Target="/ppt/slides/slide1.xml" Id="R86286e1365dc498b" /><Relationship Type="http://schemas.openxmlformats.org/officeDocument/2006/relationships/slide" Target="/ppt/slides/slide2.xml" Id="Ra027ac1b2b004191" /><Relationship Type="http://schemas.openxmlformats.org/officeDocument/2006/relationships/slide" Target="/ppt/slides/slide3.xml" Id="R549cb9faebf9464f" /><Relationship Type="http://schemas.openxmlformats.org/officeDocument/2006/relationships/slide" Target="/ppt/slides/slide4.xml" Id="Re98c5e31df9647c1" /><Relationship Type="http://schemas.openxmlformats.org/officeDocument/2006/relationships/slide" Target="/ppt/slides/slide5.xml" Id="R7f71f0c6319448f4" /><Relationship Type="http://schemas.openxmlformats.org/officeDocument/2006/relationships/slide" Target="/ppt/slides/slide6.xml" Id="R21075ce9c0354101" /><Relationship Type="http://schemas.openxmlformats.org/officeDocument/2006/relationships/slide" Target="/ppt/slides/slide7.xml" Id="R312495358088439d" /><Relationship Type="http://schemas.openxmlformats.org/officeDocument/2006/relationships/slide" Target="/ppt/slides/slide8.xml" Id="R069d939595e34755" /><Relationship Type="http://schemas.openxmlformats.org/officeDocument/2006/relationships/slide" Target="/ppt/slides/slide9.xml" Id="Rec17019839fa4216" /><Relationship Type="http://schemas.openxmlformats.org/officeDocument/2006/relationships/slide" Target="/ppt/slides/slide10.xml" Id="R2d84a9489fd4408a" /><Relationship Type="http://schemas.openxmlformats.org/officeDocument/2006/relationships/slide" Target="/ppt/slides/slide11.xml" Id="Re950897bdf1548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363ba28d3b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5ff4399f046d9" /><Relationship Type="http://schemas.openxmlformats.org/officeDocument/2006/relationships/notesMaster" Target="/ppt/notesMasters/notesMaster1.xml" Id="R86c28f5bca99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82ecb6cce54bf0" /><Relationship Type="http://schemas.openxmlformats.org/officeDocument/2006/relationships/notesMaster" Target="/ppt/notesMasters/notesMaster1.xml" Id="R8491258cf337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52def56cf74a20" /><Relationship Type="http://schemas.openxmlformats.org/officeDocument/2006/relationships/notesMaster" Target="/ppt/notesMasters/notesMaster1.xml" Id="Ra8f24a9b3d67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4271f2bee4a7f" /><Relationship Type="http://schemas.openxmlformats.org/officeDocument/2006/relationships/notesMaster" Target="/ppt/notesMasters/notesMaster1.xml" Id="R8638f4d1048244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6611a5225498d" /><Relationship Type="http://schemas.openxmlformats.org/officeDocument/2006/relationships/notesMaster" Target="/ppt/notesMasters/notesMaster1.xml" Id="R36c2b0e4a1844d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fc3890a1a4fac" /><Relationship Type="http://schemas.openxmlformats.org/officeDocument/2006/relationships/notesMaster" Target="/ppt/notesMasters/notesMaster1.xml" Id="Rc488e90e467344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5c2d8677f4500" /><Relationship Type="http://schemas.openxmlformats.org/officeDocument/2006/relationships/notesMaster" Target="/ppt/notesMasters/notesMaster1.xml" Id="R5e371371b22742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ae29fe7d94dee" /><Relationship Type="http://schemas.openxmlformats.org/officeDocument/2006/relationships/notesMaster" Target="/ppt/notesMasters/notesMaster1.xml" Id="Rea2836dd375b4a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9c75303e24720" /><Relationship Type="http://schemas.openxmlformats.org/officeDocument/2006/relationships/notesMaster" Target="/ppt/notesMasters/notesMaster1.xml" Id="R340e9fccd24a4b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a60358c79e4920" /><Relationship Type="http://schemas.openxmlformats.org/officeDocument/2006/relationships/notesMaster" Target="/ppt/notesMasters/notesMaster1.xml" Id="R3ee680988f214b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3cf2b73a844143" /><Relationship Type="http://schemas.openxmlformats.org/officeDocument/2006/relationships/notesMaster" Target="/ppt/notesMasters/notesMaster1.xml" Id="R3d68c38c8dcf42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 de capa gerada com image_gen para esta apresentação.</a:t>
            </a:r>
          </a:p>
          <a:p xmlns:a="http://schemas.openxmlformats.org/drawingml/2006/main">
            <a:r>
              <a:t>- Contexto do negócio fornecido pelo cliente na reunião.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Notas da reunião fornecidas pelo cliente: comercial, financeiro, fabricação, tapeçaria e logística com processos majoritariamente humanos.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Contexto da reunião: fabricação interna, tapeçaria e router CNC de madeira.</a:t>
            </a:r>
          </a:p>
          <a:p xmlns:a="http://schemas.openxmlformats.org/drawingml/2006/main">
            <a:r>
              <a:t>- Estoque Now — disponibilidade por período, pedidos e programação de logística: https://estoquenow.com.br/home/estoque_locacao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- 100% Eventos: https://cemporcentoeventos.com.br/</a:t>
            </a:r>
          </a:p>
          <a:p xmlns:a="http://schemas.openxmlformats.org/drawingml/2006/main">
            <a:r>
              <a:t>- Cunha Festas: https://cunhafestas.com.br/</a:t>
            </a:r>
          </a:p>
          <a:p xmlns:a="http://schemas.openxmlformats.org/drawingml/2006/main">
            <a:r>
              <a:t>- Checon Locações: https://checonequipamentos.com.br/</a:t>
            </a:r>
          </a:p>
          <a:p xmlns:a="http://schemas.openxmlformats.org/drawingml/2006/main">
            <a:r>
              <a:t>- Estoque Now: https://estoquenow.com.br/home/estoque_locacao</a:t>
            </a:r>
          </a:p>
          <a:p xmlns:a="http://schemas.openxmlformats.org/drawingml/2006/main">
            <a:r>
              <a:t>- LocaOne: https://www.locaone.app/</a:t>
            </a:r>
          </a:p>
          <a:p xmlns:a="http://schemas.openxmlformats.org/drawingml/2006/main">
            <a:r>
              <a:t>- LocaFácil: https://www.locafacilsistema.com.br/segmentos/eventos</a:t>
            </a:r>
          </a:p>
          <a:p xmlns:a="http://schemas.openxmlformats.org/drawingml/2006/main">
            <a:r>
              <a:t>- SmartLOC: https://smartloc.com.br/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Recomendação derivada do diagnóstico inicial e da cobertura funcional publicada pelo Estoque Now: https://estoquenow.com.br/home/estoque_locacao</a:t>
            </a:r>
          </a:p>
          <a:p xmlns:a="http://schemas.openxmlformats.org/drawingml/2006/main">
            <a:r>
              <a:t>- A viabilidade de integração depende de API, webhooks ou exportação estruturada a confirmar na fase de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- 100% Eventos — favoritos e moodboard: https://cemporcentoeventos.com.br/</a:t>
            </a:r>
          </a:p>
          <a:p xmlns:a="http://schemas.openxmlformats.org/drawingml/2006/main">
            <a:r>
              <a:t>- Cunha Festas — seleção de itens e orçamento via WhatsApp: https://cunhafestas.com.br/</a:t>
            </a:r>
          </a:p>
          <a:p xmlns:a="http://schemas.openxmlformats.org/drawingml/2006/main">
            <a:r>
              <a:t>- Estoque Now — orçamentos, contratos e histórico de clientes: https://estoquenow.com.br/home/estoque_locacao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Estoque Now — disponibilidade, logística, veículos e motoristas: https://estoquenow.com.br/home/estoque_locacao</a:t>
            </a:r>
          </a:p>
          <a:p xmlns:a="http://schemas.openxmlformats.org/drawingml/2006/main">
            <a:r>
              <a:t>- LocaOne — QR, checklist com fotos e manutenção: https://www.locaone.app/</a:t>
            </a:r>
          </a:p>
          <a:p xmlns:a="http://schemas.openxmlformats.org/drawingml/2006/main">
            <a:r>
              <a:t>- LocaFácil — romaneio e devolução: https://www.locafacilsistema.com.br/segmentos/eventos</a:t>
            </a:r>
          </a:p>
          <a:p xmlns:a="http://schemas.openxmlformats.org/drawingml/2006/main">
            <a:r>
              <a:t>- Escopo de CNC é uma simplificação deliberada da proposta inicial.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Estoque Now — relatórios de clientes, pedidos e situação financeira: https://estoquenow.com.br/home/estoque_locacao</a:t>
            </a:r>
          </a:p>
          <a:p xmlns:a="http://schemas.openxmlformats.org/drawingml/2006/main">
            <a:r>
              <a:t>- SmartLOC — módulos de financeiro, estoque, CRM e logística: https://smartloc.com.br/</a:t>
            </a:r>
          </a:p>
          <a:p xmlns:a="http://schemas.openxmlformats.org/drawingml/2006/main">
            <a:r>
              <a:t>- Indicadores propostos são recomendações e dependem da disponibilidade dos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Cronograma elaborado pela Ápice com base no escopo preliminar. Será refinado após diagnóstico e validação da integração com o Estoque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Estimativa interna da Ápice, em horas-pessoa, baseada no escopo preliminar.</a:t>
            </a:r>
          </a:p>
          <a:p xmlns:a="http://schemas.openxmlformats.org/drawingml/2006/main">
            <a:r>
              <a:t>- Premissas: MVP web responsivo; reaproveitamento do Estoque Now; sem automação direta da CNC; uma empresa/unidade; integrações fiscais e pagamento a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Próximo passo e posicionamento comercial definidos pela Ápice.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be352da58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161db047f417e" /><Relationship Type="http://schemas.openxmlformats.org/officeDocument/2006/relationships/slideLayout" Target="/ppt/slideLayouts/slideLayout1.xml" Id="Rc606730868d4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6730868d4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ba1cec53d4cfd" /><Relationship Type="http://schemas.openxmlformats.org/officeDocument/2006/relationships/image" Target="/ppt/media/image.png" Id="Rba33b1831b3e4cc7" /><Relationship Type="http://schemas.openxmlformats.org/officeDocument/2006/relationships/notesSlide" Target="/ppt/notesSlides/notesSlide1.xml" Id="R338d8945d15e47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ba6c54b644228" /><Relationship Type="http://schemas.openxmlformats.org/officeDocument/2006/relationships/notesSlide" Target="/ppt/notesSlides/notesSlide2.xml" Id="R2f9ed0002b4d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4beb92bd0433f" /><Relationship Type="http://schemas.openxmlformats.org/officeDocument/2006/relationships/notesSlide" Target="/ppt/notesSlides/notesSlide3.xml" Id="R8a7eb2f985aa41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8feeb32ca4ce2" /><Relationship Type="http://schemas.openxmlformats.org/officeDocument/2006/relationships/notesSlide" Target="/ppt/notesSlides/notesSlide4.xml" Id="R3039ba68d4c3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5246c3d84c8e" /><Relationship Type="http://schemas.openxmlformats.org/officeDocument/2006/relationships/notesSlide" Target="/ppt/notesSlides/notesSlide5.xml" Id="R88d55f159bef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a72692a7f4492" /><Relationship Type="http://schemas.openxmlformats.org/officeDocument/2006/relationships/notesSlide" Target="/ppt/notesSlides/notesSlide6.xml" Id="Rc35c0cbaa9db4a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7d41ba7e14253" /><Relationship Type="http://schemas.openxmlformats.org/officeDocument/2006/relationships/notesSlide" Target="/ppt/notesSlides/notesSlide7.xml" Id="Rc7a5eb45748d41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030a924c94189" /><Relationship Type="http://schemas.openxmlformats.org/officeDocument/2006/relationships/notesSlide" Target="/ppt/notesSlides/notesSlide8.xml" Id="R0c203d7b8a1848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eeeb17b74141" /><Relationship Type="http://schemas.openxmlformats.org/officeDocument/2006/relationships/notesSlide" Target="/ppt/notesSlides/notesSlide9.xml" Id="R57ab42d52f354c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7efc94324f92" /><Relationship Type="http://schemas.openxmlformats.org/officeDocument/2006/relationships/notesSlide" Target="/ppt/notesSlides/notesSlide10.xml" Id="R588574d9552445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a978cc44f404a" /><Relationship Type="http://schemas.openxmlformats.org/officeDocument/2006/relationships/notesSlide" Target="/ppt/notesSlides/notesSlide11.xml" Id="R6cc2d05e5100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F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3b1831b3e4cc7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A0837-892A-4E6F-B1F1-ADEF1963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A5B0D-15ED-456B-9730-3E43F5C6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ÁPICE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A9C76-77BC-425F-A077-67676745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2862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operação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conectada, 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lead à devolução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FA7D7-D7D2-41BA-AC9D-232E0D73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3762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D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5D5D1"/>
                </a:solidFill>
                <a:latin typeface="Helvetica Neue"/>
                <a:ea typeface="Helvetica Neue"/>
                <a:cs typeface="Helvetica Neue"/>
              </a:rPr>
              <a:t>Proposta de transformação digital para a Império Locações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9AE2-F263-4A49-9E1D-54C20A9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AF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FAFA9"/>
                </a:solidFill>
                <a:latin typeface="Helvetica Neue"/>
                <a:ea typeface="Helvetica Neue"/>
                <a:cs typeface="Helvetica Neue"/>
              </a:rPr>
              <a:t>22 AGO 2026</a:t>
            </a:r>
          </a:p>
        </p:txBody>
      </p:sp>
    </p:spTree>
    <p:extLst>
      <p:ext uri="{BB962C8B-B14F-4D97-AF65-F5344CB8AC3E}">
        <p14:creationId xmlns:p14="http://schemas.microsoft.com/office/powerpoint/2010/main" val="1718501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6CCD1-E8CF-497E-92FA-41B5225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77B9026-E420-4EF2-9600-FF55E72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Hoje, cada área funciona — mas a empresa não funciona como um fluxo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6BDDB-4841-4819-8C7E-01549F5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02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76300" y="30861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433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4D6C1-9365-41BC-A81B-FF3BEA4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810F0-C132-4FF1-9EE2-C455CDA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BC610-CA15-4027-A9B6-1EAA6432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B0161-77B0-4C44-8131-EDF93D5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Leads, follow-ups e histórico sem um CRM único.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45CC1-AD60-411B-9666-EA29B1D5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B5E3E-5742-4BD9-8B80-822403B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5E9F2-44BE-4BBC-9F2B-D08F248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FINANCEIRO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8C6EA-340E-4E7C-9D6B-2009C6E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Dashboard fraco; pouca visão de margem, caixa e atrasos.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138CD-B6CA-49D2-BA6A-6898DAB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E8A76-DED2-4A95-92B5-3657036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0B2BD-48B0-4E7D-8738-26DFF5C5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FABRICAÇÃO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509CF-84DD-41A9-8BE9-2640648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Ordens, materiais e prazos dependem de comunicação humana.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E863D-65C0-4304-835D-CDF6985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66456-0818-4B0A-8326-C47F827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5A44F-924C-4581-8D03-8341F0E7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TAPEÇARIA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E8A0E-66E8-49AB-A3F5-74B9585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Fila, retrabalho e disponibilidade não aparecem no pedido.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628FD-4E29-4E72-8073-594292A4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D9FD5-7CE7-4536-AFF9-DD957CA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6433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35807-DECC-4605-8FD9-D85BAEC8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LOGÍSTICA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A61EE-C2D6-461E-9D69-C8A8592A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Separação, entrega, montagem e retorno sem rastreio ponta a ponta.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E674B-958C-4E0A-B31A-588B1F30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 custo invisível está nas passagens de bastão: redigitar, perguntar, conferir, cobrar e apagar incêndios.</a:t>
            </a:r>
          </a:p>
        </p:txBody>
      </p:sp>
    </p:spTree>
    <p:extLst>
      <p:ext uri="{BB962C8B-B14F-4D97-AF65-F5344CB8AC3E}">
        <p14:creationId xmlns:p14="http://schemas.microsoft.com/office/powerpoint/2010/main" val="1601591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E864A-2657-4757-8E42-57CB30B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BEDC4BE-674B-4A38-828D-EB7428F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 sistema precisa entender duas operações que compartilham o mesmo prazo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B25B-A0A8-4FE5-836B-3D75F7E3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61B96-F774-4F36-8B13-83FE33C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3340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5EB75-0E95-4366-BF21-738FE48C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54864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9311F-2B3A-44C1-8B4B-78DED98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6A84-2AC8-4C96-9339-69D29AC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Acervo que circula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B4BFB-7D25-4B96-894F-71F9166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Reservar por data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Separar e conferir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Entregar e montar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Coletar, inspecionar e liberar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4D286-0C59-4A18-BA2D-DBE182F4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76E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B76E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52E9C-D61D-49A0-BC7A-93AE766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Produto que nasce ou volta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13071-1AFF-438A-AB00-21751B9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Planejar fabricação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Cortar na CNC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Montar e estofar</a:t>
            </a:r>
          </a:p>
          <a:p xmlns:a="http://schemas.openxmlformats.org/drawingml/2006/main">
            <a:pPr algn="l">
              <a:def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Aprovar qualidade e custo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605CC-703F-4B38-9235-CCC1B432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944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Um pedido só pode ser prometido quando estoque, produção e logística concordam.</a:t>
            </a:r>
          </a:p>
        </p:txBody>
      </p:sp>
    </p:spTree>
    <p:extLst>
      <p:ext uri="{BB962C8B-B14F-4D97-AF65-F5344CB8AC3E}">
        <p14:creationId xmlns:p14="http://schemas.microsoft.com/office/powerpoint/2010/main" val="15828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315FE-1A66-420F-8BD2-22C04CF5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BENCHMARK DO SETOR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E7EAFAE-72ED-4EF6-A058-E81C02B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Os melhores players digitais reduzem atrito antes e depois da venda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5A129-C72D-45D3-AB0F-91D3D50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4F50E-D5BF-41E8-98E2-28388478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Referência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96898-4216-480C-AA37-CD46A5F5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O que o site ou sistema faz bem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58D1F-7EEA-4B7D-AF03-575AAA30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Lição para a Império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3DE42-643D-4B57-AE6E-1510D193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3F4C4-6EFA-4573-83B7-8FC428AA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100% Eventos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3ABEC-A315-43A7-9274-12F66EA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Favoritos, moodboard e catálogo visual com medidas.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DA5CE-1140-43DF-AF68-9E56513C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Inspirar e qualificar o pedido.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95C21-06F6-4E41-A1C4-9D65457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Cunha Festas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67386-9C83-468D-850C-1881FB26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Carrinho de orçamento que termina no WhatsApp.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0CE59-D410-4C14-AF48-BAD95DCD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Venda simples, sem checkout artificial.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72D20-C5C1-46A5-99B6-2D737D44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F0934-58AC-475A-94EB-216378E0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Checon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D4BCA-4F5E-4D8D-B2D6-CCE5626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Portfólio forte, frota própria e fabricação personalizada.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31711-218F-4EC5-A313-48742E8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Provar escala e capacidade operacional.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9A612-8371-4D8A-9548-EE15E877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Estoque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67831-A53F-44EF-98B9-AA6DD1D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Pedidos, contratos, disponibilidade e programação logística.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1B7CE-0EAA-4D9A-AC80-DFA6D9D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Reusar o núcleo de locação existente.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B120D-0699-4CF5-8C1D-B60B5060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64620-D16D-4E20-BEB3-7BE875D4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LocaOne / LocaFácil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60255-968D-41D4-BF9E-D9D0FB1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00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QR, checklists, cobrança, calendário e inspeção com fotos.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00227-B939-4308-BAF1-C4ED0493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00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Levar controle para o chão da operação.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AEEF1-751F-4DC8-8671-E6607E70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SmartLOC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44C93-CC0B-4E57-8A80-02B59F3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CRM, acervo, financeiro, logística e app operacional.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18551-4D2C-4C09-8F31-7FF3963C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Uma visão única exige módulos conectados.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5874F-89E8-4824-8508-48AB8F6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A oportunidade não é copiar um concorrente: é ligar a experiência comercial à operação que só a Império possui.</a:t>
            </a:r>
          </a:p>
        </p:txBody>
      </p:sp>
    </p:spTree>
    <p:extLst>
      <p:ext uri="{BB962C8B-B14F-4D97-AF65-F5344CB8AC3E}">
        <p14:creationId xmlns:p14="http://schemas.microsoft.com/office/powerpoint/2010/main" val="1726932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E54E4-332B-4A31-A820-6BC9CD0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3DC5A64-3387-4EAA-9CEF-8BC4E64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Recomendamos uma camada operacional própria, não uma reconstrução cega do ERP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5AE9F-932E-4F2D-A33D-A0888EC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05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89547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347662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505777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63892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22007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9801225" y="3067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4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59CD4-D407-424D-B546-E892009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EE82-59AF-409B-B7C1-6E2E827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CATÁLOGO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4EE23-B682-4FE0-A99B-8CA413F5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9525">
            <a:solidFill>
              <a:srgbClr val="2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F910-A14C-40FD-B991-633C0B79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90313-9F0D-4391-8272-91A98237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F5BEB-2A2D-414E-9054-E87A3A0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PEDIDO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B58BF-0CCB-4A2A-A5F9-4365E80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1E690-2A04-47F6-97AA-DE980B1A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ESTOQUE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A93E6-1529-4AC8-A701-C5DD287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9525">
            <a:solidFill>
              <a:srgbClr val="2F74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F150D-5ED1-41D2-90E7-A1697C5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75858-D8D3-4520-9772-BC284D3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868FB-62E9-40AB-9B43-175F640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LOGÍSTICA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C75FB-4121-49AD-A51C-2E4F9393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381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9525">
            <a:solidFill>
              <a:srgbClr val="2F7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BB2F3-C9D0-440C-8938-A569A033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337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FINANCEIRO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EA973-9106-48DA-A47F-1B666B1C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D62"/>
                </a:solidFill>
                <a:latin typeface="Helvetica Neue"/>
                <a:ea typeface="Helvetica Neue"/>
                <a:cs typeface="Helvetica Neue"/>
              </a:rPr>
              <a:t>REUSAR / INTEGRAR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A7531-6505-4540-9A94-3762CAE5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Catálogo, cadastro, estoque, pedidos, contratos e logística do Estoque Now — se houver API ou exportação confiável.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B12CB-08A7-4CA5-A103-7FC3ABF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CONSTRUIR ONDE HÁ DIFERENCIAL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D1489-A2BF-49EE-A02A-9A0E2B5F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CRM com funil real, ordens de fabricação/tapeçaria, controle de CNC, indicadores e automações entre áreas.</a:t>
            </a:r>
          </a:p>
        </p:txBody>
      </p:sp>
    </p:spTree>
    <p:extLst>
      <p:ext uri="{BB962C8B-B14F-4D97-AF65-F5344CB8AC3E}">
        <p14:creationId xmlns:p14="http://schemas.microsoft.com/office/powerpoint/2010/main" val="1602320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35FAB-A5FA-4E0C-A88C-877F7820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8AE9E17-5863-48E0-8D09-1AAF465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 comercial ganha velocidade sem perder o atendimento consultivo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FA7B-2210-479D-99C7-9EACFBA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06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52450" y="1866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F74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D4972-B23D-4275-9FFB-4F54312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Catálogo que vende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F991D-74FA-42C5-A814-6F0EDB52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Busca por categoria, medidas, acabamento e disponibilidade indicativa. Favoritos ou moodboard viram um pedido de orçamento estruturado.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24350" y="1866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F7D62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79565-3EAD-4794-A474-09B26108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CRM que lembra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191C6-DBD6-4558-B7BF-244BE29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Lead, origem, evento, data, orçamento, follow-up e motivo de perda em um único histórico. Alertas substituem memória e planilha.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096250" y="1866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E22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D7918-4DA7-4AB8-BD71-5175230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Proposta que avança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8701F-C81F-47AC-9EED-494EDF3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Orçamento visual, versões, contrato e sinal. Ao aprovar, o pedido nasce sem redigitação para estoque, produção e logística.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F6E88-6EB3-40A0-A951-70033FCE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Resultado esperado: menos lead esquecido, resposta mais rápida e uma passagem de bastão sem ruído.</a:t>
            </a:r>
          </a:p>
        </p:txBody>
      </p:sp>
    </p:spTree>
    <p:extLst>
      <p:ext uri="{BB962C8B-B14F-4D97-AF65-F5344CB8AC3E}">
        <p14:creationId xmlns:p14="http://schemas.microsoft.com/office/powerpoint/2010/main" val="1124767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48DA1-B880-4BF4-BBD7-B1FEA6EF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1D2F17E-F644-4119-8B3C-5002416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A operação passa a trabalhar pela mesma promessa feita ao cliente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E09A6-017E-4763-A408-BA8320F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07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000250" y="27813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2552700" y="2095500"/>
            <a:ext cx="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255270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2552700" y="3467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95300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953000" y="3467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448300" y="2095500"/>
            <a:ext cx="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5448300" y="27813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905750" y="27813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BC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A1638-7949-4F56-B09D-72CDBC7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F1D"/>
          </a:solidFill>
          <a:ln xmlns:a="http://schemas.openxmlformats.org/drawingml/2006/main" w="9525">
            <a:solidFill>
              <a:srgbClr val="1E1F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28FFF-B07C-45FA-9B41-32B54784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20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APROVADO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78F72-9552-4905-91E8-593857F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38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F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9E0C5-189B-45B6-B3D3-796B95A6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ACERVO</a:t>
            </a:r>
          </a:p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reservar e separar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7B639-450A-478C-BEA2-542EF331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D1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047DA-D7CF-43BB-9007-FC661988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FABRICAÇÃO</a:t>
            </a:r>
          </a:p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CNC, montagem, tapeçaria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1C46B-1FBB-4962-997C-CFDA413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6"/>
          </a:solidFill>
          <a:ln xmlns:a="http://schemas.openxmlformats.org/drawingml/2006/main" w="9525">
            <a:solidFill>
              <a:srgbClr val="C8CB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E94DC-C10E-40F8-804E-2F609C4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CONFERÊNCIA</a:t>
            </a:r>
          </a:p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QR, foto, avaria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2E7BD-32C6-4E13-AA67-0D16833B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9525">
            <a:solidFill>
              <a:srgbClr val="2F74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2E309-A5BE-4BC8-919E-1AF5782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ROTA E CAMPO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entrega, montagem, retorno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DE9264-8667-47E0-8FD6-D1BE35F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Disponibilidade real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B9664-9E7F-4088-A8CA-3723A06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por data e estado da peça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7C4C1-10DE-4B84-A1AC-64D7423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Ordem de produção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35CFE-594D-4BF9-9E8E-FEFC53F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materiais, responsável e prazo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6BFC4-5A9E-4C58-AA21-B7F569E6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Checklist móvel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F593C-4646-40F3-8017-0920E953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saída, montagem e retorno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2E076-BFA5-4DDD-9CF0-FF749A85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Histórico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33CAF-EDF4-4B60-8282-0E4A4137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avaria, manutenção e custo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9F17D-D1E4-4DDE-B185-6460B25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6E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76E22"/>
                </a:solidFill>
                <a:latin typeface="Helvetica Neue"/>
                <a:ea typeface="Helvetica Neue"/>
                <a:cs typeface="Helvetica Neue"/>
              </a:rPr>
              <a:t>MVP: controlar arquivos e status da CNC; automação direta da máquina só entra se o protocolo e o ganho justificarem.</a:t>
            </a:r>
          </a:p>
        </p:txBody>
      </p:sp>
    </p:spTree>
    <p:extLst>
      <p:ext uri="{BB962C8B-B14F-4D97-AF65-F5344CB8AC3E}">
        <p14:creationId xmlns:p14="http://schemas.microsoft.com/office/powerpoint/2010/main" val="1251437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309CC-E831-494D-81DA-1461717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1DD57CF-6C43-4A23-8F96-7A92385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 financeiro deixa de mostrar o passado e passa a orientar decisões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43EF-0E70-4BA4-A852-BB3B4ABD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91F7F-5D92-48C4-9904-179240B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MARGEM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ABD91-47EF-4173-BF0C-3558473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por evento e categoria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07EE2-6B2A-412B-A793-2F3631D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Receita - custo variável - perdas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3171825" y="20193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86236-CB26-491D-ACF4-3C6189C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CAIXA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8FDF8-D151-4B21-9D98-1396B94A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previsto x realizado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73659-F3C3-4F79-BADA-25E0085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385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Recebimentos, sinais e atrasos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981700" y="20193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80CDE-4655-4EB2-93E4-A5EC9A71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ACERVO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3D577-4E8E-49BE-A89F-E157BDC1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ocupação e retorno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BDA85-27BA-4CF6-8DC4-2D76CEB4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Disponível, reservado, em manutenção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791575" y="20193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C8EA1-11F5-4A85-A115-DA142F30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PRODUÇÃO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A5ED4-4D02-473F-96DB-9D72311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custo e atraso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A5350-90EA-4D45-AC30-CBD05ED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385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Previsto x real por ordem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EDDCF-4B97-42FD-8A4D-AFC9A1D9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74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94691-6A1C-4117-879A-E176D06E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Alertas acionáveis, não gráficos decorativos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F7285-1627-4971-81A3-3913088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8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8D8D3"/>
                </a:solidFill>
                <a:latin typeface="Helvetica Neue"/>
                <a:ea typeface="Helvetica Neue"/>
                <a:cs typeface="Helvetica Neue"/>
              </a:rPr>
              <a:t>Orçamento parado  •  sinal vencido  •  peça crítica indisponível  •  ordem atrasada  •  rota em risco</a:t>
            </a:r>
          </a:p>
        </p:txBody>
      </p:sp>
    </p:spTree>
    <p:extLst>
      <p:ext uri="{BB962C8B-B14F-4D97-AF65-F5344CB8AC3E}">
        <p14:creationId xmlns:p14="http://schemas.microsoft.com/office/powerpoint/2010/main" val="408767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010FD-D332-4B4B-BCC0-06262BFE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PROPOSTA DE SOLUÇÃO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2E6E7DE-2460-44E0-8287-FEA662E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A implantação acontece por valor entregue, não por um grande lançamento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B538E-825B-4F74-8953-3CA88B5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09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028700" y="49530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151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A1466-9A7E-4103-A07B-8A7B78E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38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1E115-3CAF-46B5-AF5D-A2137D6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E4E38-302D-4383-8245-8795B681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DIAGNÓSTICO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7F48C-6E40-4DF1-B3B6-262248D7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Semanas 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B154A-18A0-4B43-8825-FCB2AE0D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Fluxos, dados, integração e indicadores.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EEA16-907E-4B20-B6FC-604A343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CD4F5-1361-4455-B812-17923F85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438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A5F5E-8F72-42F5-80EC-F6BAB03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7444E-AD9F-4372-85DC-D4EF4137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023BA-C7F2-4C08-A8AE-1328D7A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Semanas 3–6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CD493-FDED-44E2-9134-3C92876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CRM, catálogo e proposta conectada.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DBD71-B5DC-479C-85EF-BC1D67E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E4D2A-97AF-4C2B-8781-83AE346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438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73AC0-281D-48A0-BEB9-94316C9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DEB66-F59C-42D7-98EB-BBE2507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OPERAÇÃO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227DB-B294-4010-B52D-BD38DBBA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Semanas 7–11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08F0D-0A66-417E-B4BF-CC068F5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Estoque, logística, QR e checklists.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5E3CE-8487-4D3C-9C0F-A784658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F60C0-6638-4DBD-A4AA-7360CE78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438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D7E85-5685-49CD-96B1-C5B886F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6EB8B-112D-45BD-A17A-0EE1C89F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FÁBRICA + FINANÇAS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A5C05-5CA3-4E08-950E-535D2DE7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Semanas 12–16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17281-C29D-475C-B67E-81F8C974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Ordens, tapeçaria, CNC e dashboards.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EC679-221A-4235-B61F-8CE4628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4A32E-BBCC-4995-B8B7-FA96D096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Go-live gradual: uma equipe piloto, dados reais e correções semanais antes de ampliar o uso.</a:t>
            </a:r>
          </a:p>
        </p:txBody>
      </p:sp>
    </p:spTree>
    <p:extLst>
      <p:ext uri="{BB962C8B-B14F-4D97-AF65-F5344CB8AC3E}">
        <p14:creationId xmlns:p14="http://schemas.microsoft.com/office/powerpoint/2010/main" val="1993918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D6D104-8FEE-40E8-8218-4E95774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ESFORÇO E PREMISSAS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39AFC0C-77BB-4AE2-BFF4-E51AA06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Estimativa-base: 680 horas-pessoa para colocar o MVP operacional de pé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" y="1524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BC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11938-D031-4C25-A54E-F436F1BD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ÁPICE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0146A-3C96-47AE-9AD5-AF4A1929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2F74FF"/>
                </a:solidFill>
                <a:latin typeface="Helvetica Neue"/>
                <a:ea typeface="Helvetica Neue"/>
                <a:cs typeface="Helvetica Neue"/>
              </a:rPr>
              <a:t>680h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64B4D-A87B-4337-A885-A2F0B5E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faixa provável: 580–780h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F0D82-BFDE-47DC-ACA7-4DF46D0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12–16 semanas de calendário</a:t>
            </a:r>
          </a:p>
          <a:p xmlns:a="http://schemas.openxmlformats.org/drawingml/2006/main">
            <a:pPr algn="l">
              <a:defRPr sz="15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com implantação e validação por área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CDEC8-237B-40D4-AD09-1B035C4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42246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4C6CA-937B-4304-B4C3-223C7B7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EFD80-D1B0-4808-B954-FCCDBF3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Diagnóstico e desenho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80CA5-F55C-4C34-A101-0600DA4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861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40h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1FF5C-70D3-4471-9AD8-C1906D51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062" y="2095500"/>
            <a:ext cx="760431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112F1-1CF9-4E3B-9CE6-543B784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162" y="2257425"/>
            <a:ext cx="68423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72h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E3CF9-BDCC-4580-AC3A-BC4F621D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C1AC7-A95A-485B-AEAD-E8A27AC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956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Base e integração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793F1-CB7C-4438-8E38-3399A31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956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72h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2E989-7E48-41D2-8868-23FA30A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493" y="2095500"/>
            <a:ext cx="12673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50E4B-F960-457D-AFE5-08A20DC1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593" y="2257425"/>
            <a:ext cx="11911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120h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CAACF-27AE-4823-83C6-52D17C17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7C9FA-5207-457B-8392-6459211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CRM e catálogo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017F-3143-4A68-B4C6-0CD4A75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9052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120h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1BD59-415C-46C2-96B4-75CEF0B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878" y="2095500"/>
            <a:ext cx="135187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5EC65-2F25-4B73-812B-1DB7204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978" y="2257425"/>
            <a:ext cx="127567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128h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764AD-9D4B-45DB-A982-638E9EB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B5F19-240D-4018-9785-973B297E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148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Estoque e logística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4D029-F8CF-45ED-934E-E2FA611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128h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B420D-30ED-4D08-8BF9-3B1EC6A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756" y="2095500"/>
            <a:ext cx="152086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CF770-3FB7-42A3-9E99-5ECAEE1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856" y="2257425"/>
            <a:ext cx="14446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144h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8398F-217D-4FA0-8F61-4EC2024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55358-D531-422A-979B-0154153D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24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Fabricação e tapeçaria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4CBE7-BB9E-45B5-A3EF-E3A91A8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24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144h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29DE48-681B-46B3-9B29-2B5ECB8C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618" y="2095500"/>
            <a:ext cx="9294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309D3E-0232-4C23-A381-47076A1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718" y="2257425"/>
            <a:ext cx="8532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88h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708E9-6569-4A29-A0C0-18D2E750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81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C61E0-BC3E-430B-B57A-A729265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339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Financeiro e dashboards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318FF3-04BC-4E82-A118-F18F3F6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1339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88h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39CCF0-ECC9-4F7B-AC5B-B6C53572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34" y="2095500"/>
            <a:ext cx="9294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60502-0741-4F13-8EFA-F1CE3425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134" y="2257425"/>
            <a:ext cx="8532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88h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A4E206-4F1B-4461-9A38-24D99E38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91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CE0CE4-E531-4639-A9C0-EE1E8EFB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Migração, QA e go-live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4C7B3-3B9B-430C-8CE5-1E52B003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43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88h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FA1AFB-A2C4-4F6A-A6FF-F02210F1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25F"/>
                </a:solidFill>
                <a:latin typeface="Helvetica Neue"/>
                <a:ea typeface="Helvetica Neue"/>
                <a:cs typeface="Helvetica Neue"/>
              </a:rPr>
              <a:t>A faixa varia com API/exportação do Estoque Now, qualidade dos cadastros, integrações fiscais/pagamento e profundidade do controle de CNC.</a:t>
            </a:r>
          </a:p>
        </p:txBody>
      </p:sp>
    </p:spTree>
    <p:extLst>
      <p:ext uri="{BB962C8B-B14F-4D97-AF65-F5344CB8AC3E}">
        <p14:creationId xmlns:p14="http://schemas.microsoft.com/office/powerpoint/2010/main" val="140030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1F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8DF29-2432-4F05-B625-6FBFBAC7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FFF"/>
                </a:solidFill>
                <a:latin typeface="Helvetica Neue"/>
                <a:ea typeface="Helvetica Neue"/>
                <a:cs typeface="Helvetica Neue"/>
              </a:rPr>
              <a:t>PRÓXIMO PASSO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5022A-50C2-4310-ADCE-40F99B7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524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Começar por 40 horas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diagnóstico aplicado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E1731-79A8-41E7-AC00-7B96585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6D7D2"/>
                </a:solidFill>
                <a:latin typeface="Helvetica Neue"/>
                <a:ea typeface="Helvetica Neue"/>
                <a:cs typeface="Helvetica Neue"/>
              </a:rPr>
              <a:t>Mapeamos o fluxo real, auditamos o Estoque Now e os dados, definimos o MVP e entregamos cronograma e proposta fechada.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52450" y="48387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0615E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2E84-C346-4367-9C47-1AD46485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B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BFFF"/>
                </a:solidFill>
                <a:latin typeface="Helvetica Neue"/>
                <a:ea typeface="Helvetica Neue"/>
                <a:cs typeface="Helvetica Neue"/>
              </a:rPr>
              <a:t>Entregáveis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E10B9-355A-4316-BBFA-3F75250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Mapa de processos  |  arquitetura de integração  |  backlog priorizado  |  estimativa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0E778-26CD-4904-ADCD-10899937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FAF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FAFA9"/>
                </a:solidFill>
                <a:latin typeface="Helvetica Neue"/>
                <a:ea typeface="Helvetica Neue"/>
                <a:cs typeface="Helvetica Neue"/>
              </a:rPr>
              <a:t>Enquanto outras software houses terceirizam o código, a gente escreve e arquiteta.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007B5-A1A3-4D60-9791-A4FA0DF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96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ÁPICE  |  ITA + MIT</a:t>
            </a:r>
          </a:p>
        </p:txBody>
      </p:sp>
    </p:spTree>
    <p:extLst>
      <p:ext uri="{BB962C8B-B14F-4D97-AF65-F5344CB8AC3E}">
        <p14:creationId xmlns:p14="http://schemas.microsoft.com/office/powerpoint/2010/main" val="1794649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2026-08-22T13:26:37.0360000Z</dcterms:created>
  <dcterms:modified xsi:type="dcterms:W3CDTF">2026-08-22T13:26:37.0360000Z</dcterms:modified>
</coreProperties>
</file>